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2000"/>
  <p:notesSz cx="6858000" cy="9144000"/>
  <p:embeddedFontLst>
    <p:embeddedFont>
      <p:font typeface="Poppins"/>
      <p:regular r:id="rId42"/>
      <p:bold r:id="rId43"/>
      <p:italic r:id="rId44"/>
      <p:boldItalic r:id="rId45"/>
    </p:embeddedFont>
    <p:embeddedFont>
      <p:font typeface="Nunito ExtraBold"/>
      <p:bold r:id="rId46"/>
      <p:boldItalic r:id="rId47"/>
    </p:embeddedFont>
    <p:embeddedFont>
      <p:font typeface="Poppins Thin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hSGa7hSc1B/PztjOsnw8raMaaO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ECF05F-0653-4E2F-8EAF-958BB876DDA2}">
  <a:tblStyle styleId="{5CECF05F-0653-4E2F-8EAF-958BB876DD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7738C47-F035-440D-860A-2764707D15D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Poppins-regular.fntdata"/><Relationship Id="rId41" Type="http://schemas.openxmlformats.org/officeDocument/2006/relationships/slide" Target="slides/slide35.xml"/><Relationship Id="rId44" Type="http://schemas.openxmlformats.org/officeDocument/2006/relationships/font" Target="fonts/Poppins-italic.fntdata"/><Relationship Id="rId43" Type="http://schemas.openxmlformats.org/officeDocument/2006/relationships/font" Target="fonts/Poppins-bold.fntdata"/><Relationship Id="rId46" Type="http://schemas.openxmlformats.org/officeDocument/2006/relationships/font" Target="fonts/NunitoExtraBold-bold.fntdata"/><Relationship Id="rId45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oppinsThin-regular.fntdata"/><Relationship Id="rId47" Type="http://schemas.openxmlformats.org/officeDocument/2006/relationships/font" Target="fonts/NunitoExtraBold-boldItalic.fntdata"/><Relationship Id="rId49" Type="http://schemas.openxmlformats.org/officeDocument/2006/relationships/font" Target="fonts/PoppinsThin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oppinsThin-boldItalic.fntdata"/><Relationship Id="rId50" Type="http://schemas.openxmlformats.org/officeDocument/2006/relationships/font" Target="fonts/PoppinsThin-italic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03b3ef586_0_3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f03b3ef586_0_3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03b3ef586_0_4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03b3ef586_0_4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03b3ef586_0_6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f03b3ef586_0_6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Mettre ici photo de la symlmetry YZ</a:t>
            </a:r>
            <a:endParaRPr/>
          </a:p>
        </p:txBody>
      </p:sp>
      <p:sp>
        <p:nvSpPr>
          <p:cNvPr id="176" name="Google Shape;176;g3f03b3ef586_0_6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1bf8c3b6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f1bf8c3b61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f1bf8c3b61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03b3ef58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f03b3ef58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f03b3ef58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03b3ef586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f03b3ef586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03b3ef586_0_1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03b3ef586_0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03b3ef586_0_2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03b3ef586_0_2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03b3ef586_0_7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g3f03b3ef586_0_7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de4082801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g3ede4082801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de4082801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ede4082801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03b3ef586_0_8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g3f03b3ef586_0_8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03b3ef586_0_9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g3f03b3ef586_0_9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03b3ef586_0_10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g3f03b3ef586_0_10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03b3ef586_0_1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3f03b3ef586_0_1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a775fbc22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ea775fbc22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g3ea775fbc22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355c7bad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f355c7bad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f355c7bad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51f069ab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f51f069ab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f51f069ab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51f40f1bb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f51f40f1bb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f51f40f1bb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51f40f1bb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f51f40f1bb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f51f40f1bb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51f40f1bb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f51f40f1bb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f51f40f1bb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51f40f1bb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f51f40f1bb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f51f40f1bb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51f40f1bb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f51f40f1bb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f51f40f1bb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51f40f1bb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f51f40f1bb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51f40f1bb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ea775fbc22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g3ea775fbc22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g3ea775fbc22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F5F7FC">
                <a:alpha val="76078"/>
              </a:srgbClr>
            </a:gs>
            <a:gs pos="74000">
              <a:srgbClr val="D8D8D8"/>
            </a:gs>
            <a:gs pos="83000">
              <a:srgbClr val="BFBFBF">
                <a:alpha val="72941"/>
              </a:srgbClr>
            </a:gs>
            <a:gs pos="100000">
              <a:srgbClr val="D0CEC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5000"/>
              <a:buFont typeface="Nunito ExtraBold"/>
              <a:buNone/>
              <a:defRPr sz="5000">
                <a:solidFill>
                  <a:srgbClr val="002B49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B49"/>
              </a:buClr>
              <a:buSzPts val="2400"/>
              <a:buNone/>
              <a:defRPr sz="2400"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5"/>
          <p:cNvSpPr/>
          <p:nvPr/>
        </p:nvSpPr>
        <p:spPr>
          <a:xfrm>
            <a:off x="0" y="5805377"/>
            <a:ext cx="12192000" cy="105262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35"/>
          <p:cNvGrpSpPr/>
          <p:nvPr/>
        </p:nvGrpSpPr>
        <p:grpSpPr>
          <a:xfrm>
            <a:off x="-23507" y="12926"/>
            <a:ext cx="12204874" cy="4782026"/>
            <a:chOff x="-23507" y="12926"/>
            <a:chExt cx="12204874" cy="4782026"/>
          </a:xfrm>
        </p:grpSpPr>
        <p:sp>
          <p:nvSpPr>
            <p:cNvPr id="20" name="Google Shape;20;p35"/>
            <p:cNvSpPr/>
            <p:nvPr/>
          </p:nvSpPr>
          <p:spPr>
            <a:xfrm flipH="1">
              <a:off x="2840686" y="40080"/>
              <a:ext cx="9340681" cy="4243643"/>
            </a:xfrm>
            <a:custGeom>
              <a:rect b="b" l="l" r="r" t="t"/>
              <a:pathLst>
                <a:path extrusionOk="0" h="2673023" w="8736155">
                  <a:moveTo>
                    <a:pt x="0" y="2"/>
                  </a:moveTo>
                  <a:cubicBezTo>
                    <a:pt x="25381" y="-1731"/>
                    <a:pt x="47731" y="1065352"/>
                    <a:pt x="99721" y="1165328"/>
                  </a:cubicBezTo>
                  <a:cubicBezTo>
                    <a:pt x="151711" y="1265304"/>
                    <a:pt x="210519" y="1299515"/>
                    <a:pt x="265024" y="1531425"/>
                  </a:cubicBezTo>
                  <a:cubicBezTo>
                    <a:pt x="439649" y="1683825"/>
                    <a:pt x="624684" y="2052754"/>
                    <a:pt x="722837" y="2316008"/>
                  </a:cubicBezTo>
                  <a:cubicBezTo>
                    <a:pt x="820990" y="2579262"/>
                    <a:pt x="829781" y="2635284"/>
                    <a:pt x="979427" y="2668927"/>
                  </a:cubicBezTo>
                  <a:cubicBezTo>
                    <a:pt x="1129073" y="2702570"/>
                    <a:pt x="1444017" y="2517942"/>
                    <a:pt x="1620714" y="2517868"/>
                  </a:cubicBezTo>
                  <a:cubicBezTo>
                    <a:pt x="1797411" y="2517794"/>
                    <a:pt x="1907847" y="2690707"/>
                    <a:pt x="2039609" y="2668482"/>
                  </a:cubicBezTo>
                  <a:cubicBezTo>
                    <a:pt x="2171372" y="2646257"/>
                    <a:pt x="2392761" y="2645367"/>
                    <a:pt x="2630886" y="2639017"/>
                  </a:cubicBezTo>
                  <a:cubicBezTo>
                    <a:pt x="2708077" y="2595443"/>
                    <a:pt x="8738885" y="2630060"/>
                    <a:pt x="8736155" y="2629170"/>
                  </a:cubicBezTo>
                </a:path>
              </a:pathLst>
            </a:custGeom>
            <a:noFill/>
            <a:ln cap="flat" cmpd="sng" w="9525">
              <a:solidFill>
                <a:srgbClr val="A5A5A5">
                  <a:alpha val="80000"/>
                </a:srgbClr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5"/>
            <p:cNvSpPr/>
            <p:nvPr/>
          </p:nvSpPr>
          <p:spPr>
            <a:xfrm>
              <a:off x="-23507" y="12926"/>
              <a:ext cx="2874250" cy="4782026"/>
            </a:xfrm>
            <a:custGeom>
              <a:rect b="b" l="l" r="r" t="t"/>
              <a:pathLst>
                <a:path extrusionOk="0" h="2590480" w="2785573">
                  <a:moveTo>
                    <a:pt x="0" y="3"/>
                  </a:moveTo>
                  <a:cubicBezTo>
                    <a:pt x="25381" y="-1730"/>
                    <a:pt x="132894" y="817758"/>
                    <a:pt x="194913" y="950246"/>
                  </a:cubicBezTo>
                  <a:cubicBezTo>
                    <a:pt x="256932" y="1082734"/>
                    <a:pt x="317610" y="1032292"/>
                    <a:pt x="372115" y="1264202"/>
                  </a:cubicBezTo>
                  <a:cubicBezTo>
                    <a:pt x="528649" y="1489818"/>
                    <a:pt x="793141" y="1543167"/>
                    <a:pt x="1038921" y="2290904"/>
                  </a:cubicBezTo>
                  <a:cubicBezTo>
                    <a:pt x="1284701" y="3038641"/>
                    <a:pt x="1582839" y="2150782"/>
                    <a:pt x="1775401" y="2152880"/>
                  </a:cubicBezTo>
                  <a:cubicBezTo>
                    <a:pt x="1967963" y="2154978"/>
                    <a:pt x="2062534" y="2325719"/>
                    <a:pt x="2194296" y="2303494"/>
                  </a:cubicBezTo>
                  <a:cubicBezTo>
                    <a:pt x="2326059" y="2281269"/>
                    <a:pt x="2547448" y="2280379"/>
                    <a:pt x="2785573" y="2274029"/>
                  </a:cubicBezTo>
                </a:path>
              </a:pathLst>
            </a:custGeom>
            <a:noFill/>
            <a:ln cap="flat" cmpd="sng" w="9525">
              <a:solidFill>
                <a:srgbClr val="BFBFBF">
                  <a:alpha val="80000"/>
                </a:srgbClr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22;p35"/>
          <p:cNvGrpSpPr/>
          <p:nvPr/>
        </p:nvGrpSpPr>
        <p:grpSpPr>
          <a:xfrm>
            <a:off x="-10276" y="-2659"/>
            <a:ext cx="12202276" cy="4859454"/>
            <a:chOff x="-10276" y="1294540"/>
            <a:chExt cx="12202276" cy="4859454"/>
          </a:xfrm>
        </p:grpSpPr>
        <p:sp>
          <p:nvSpPr>
            <p:cNvPr id="23" name="Google Shape;23;p35"/>
            <p:cNvSpPr/>
            <p:nvPr/>
          </p:nvSpPr>
          <p:spPr>
            <a:xfrm flipH="1">
              <a:off x="2805427" y="1371968"/>
              <a:ext cx="9386573" cy="4782026"/>
            </a:xfrm>
            <a:custGeom>
              <a:rect b="b" l="l" r="r" t="t"/>
              <a:pathLst>
                <a:path extrusionOk="0" h="2590480" w="9096977">
                  <a:moveTo>
                    <a:pt x="0" y="3"/>
                  </a:moveTo>
                  <a:cubicBezTo>
                    <a:pt x="25381" y="-1730"/>
                    <a:pt x="132894" y="817758"/>
                    <a:pt x="194913" y="950246"/>
                  </a:cubicBezTo>
                  <a:cubicBezTo>
                    <a:pt x="256932" y="1082734"/>
                    <a:pt x="317610" y="1032292"/>
                    <a:pt x="372115" y="1264202"/>
                  </a:cubicBezTo>
                  <a:cubicBezTo>
                    <a:pt x="528649" y="1489818"/>
                    <a:pt x="793141" y="1543167"/>
                    <a:pt x="1038921" y="2290904"/>
                  </a:cubicBezTo>
                  <a:cubicBezTo>
                    <a:pt x="1284701" y="3038641"/>
                    <a:pt x="1582839" y="2150782"/>
                    <a:pt x="1775401" y="2152880"/>
                  </a:cubicBezTo>
                  <a:cubicBezTo>
                    <a:pt x="1967963" y="2154978"/>
                    <a:pt x="2062534" y="2325719"/>
                    <a:pt x="2194296" y="2303494"/>
                  </a:cubicBezTo>
                  <a:cubicBezTo>
                    <a:pt x="2326059" y="2281269"/>
                    <a:pt x="2547448" y="2280379"/>
                    <a:pt x="2785573" y="2274029"/>
                  </a:cubicBezTo>
                  <a:cubicBezTo>
                    <a:pt x="2862764" y="2230455"/>
                    <a:pt x="9099707" y="2229705"/>
                    <a:pt x="9096977" y="2228815"/>
                  </a:cubicBezTo>
                </a:path>
              </a:pathLst>
            </a:custGeom>
            <a:noFill/>
            <a:ln cap="flat" cmpd="sng" w="9525">
              <a:solidFill>
                <a:srgbClr val="BFBFBF">
                  <a:alpha val="80000"/>
                </a:srgbClr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5"/>
            <p:cNvSpPr/>
            <p:nvPr/>
          </p:nvSpPr>
          <p:spPr>
            <a:xfrm>
              <a:off x="-10276" y="1294540"/>
              <a:ext cx="2812938" cy="4243643"/>
            </a:xfrm>
            <a:custGeom>
              <a:rect b="b" l="l" r="r" t="t"/>
              <a:pathLst>
                <a:path extrusionOk="0" h="2673023" w="2630886">
                  <a:moveTo>
                    <a:pt x="0" y="2"/>
                  </a:moveTo>
                  <a:cubicBezTo>
                    <a:pt x="25381" y="-1731"/>
                    <a:pt x="47731" y="1065352"/>
                    <a:pt x="99721" y="1165328"/>
                  </a:cubicBezTo>
                  <a:cubicBezTo>
                    <a:pt x="151711" y="1265304"/>
                    <a:pt x="210519" y="1299515"/>
                    <a:pt x="265024" y="1531425"/>
                  </a:cubicBezTo>
                  <a:cubicBezTo>
                    <a:pt x="439649" y="1683825"/>
                    <a:pt x="624684" y="2052754"/>
                    <a:pt x="722837" y="2316008"/>
                  </a:cubicBezTo>
                  <a:cubicBezTo>
                    <a:pt x="820990" y="2579262"/>
                    <a:pt x="829781" y="2635284"/>
                    <a:pt x="979427" y="2668927"/>
                  </a:cubicBezTo>
                  <a:cubicBezTo>
                    <a:pt x="1129073" y="2702570"/>
                    <a:pt x="1444017" y="2517942"/>
                    <a:pt x="1620714" y="2517868"/>
                  </a:cubicBezTo>
                  <a:cubicBezTo>
                    <a:pt x="1797411" y="2517794"/>
                    <a:pt x="1907847" y="2690707"/>
                    <a:pt x="2039609" y="2668482"/>
                  </a:cubicBezTo>
                  <a:cubicBezTo>
                    <a:pt x="2171372" y="2646257"/>
                    <a:pt x="2392761" y="2645367"/>
                    <a:pt x="2630886" y="2639017"/>
                  </a:cubicBezTo>
                </a:path>
              </a:pathLst>
            </a:custGeom>
            <a:noFill/>
            <a:ln cap="flat" cmpd="sng" w="9525">
              <a:solidFill>
                <a:srgbClr val="A5A5A5">
                  <a:alpha val="80000"/>
                </a:srgbClr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25;p35"/>
          <p:cNvGrpSpPr/>
          <p:nvPr/>
        </p:nvGrpSpPr>
        <p:grpSpPr>
          <a:xfrm>
            <a:off x="4224090" y="5930505"/>
            <a:ext cx="3743820" cy="802408"/>
            <a:chOff x="4329127" y="5873320"/>
            <a:chExt cx="3743820" cy="802408"/>
          </a:xfrm>
        </p:grpSpPr>
        <p:pic>
          <p:nvPicPr>
            <p:cNvPr descr="Graphical user interface&#10;&#10;Description automatically generated" id="26" name="Google Shape;26;p35"/>
            <p:cNvPicPr preferRelativeResize="0"/>
            <p:nvPr/>
          </p:nvPicPr>
          <p:blipFill rotWithShape="1">
            <a:blip r:embed="rId2">
              <a:alphaModFix/>
            </a:blip>
            <a:srcRect b="0" l="56162" r="0" t="0"/>
            <a:stretch/>
          </p:blipFill>
          <p:spPr>
            <a:xfrm>
              <a:off x="6738100" y="5925918"/>
              <a:ext cx="1334847" cy="7498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and white logo&#10;&#10;Description automatically generated" id="27" name="Google Shape;27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29127" y="5873320"/>
              <a:ext cx="2345473" cy="7807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gradFill>
          <a:gsLst>
            <a:gs pos="0">
              <a:srgbClr val="DBDBDB"/>
            </a:gs>
            <a:gs pos="75000">
              <a:schemeClr val="lt1"/>
            </a:gs>
            <a:gs pos="100000">
              <a:schemeClr val="lt1"/>
            </a:gs>
          </a:gsLst>
          <a:lin ang="8100000" scaled="0"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6"/>
          <p:cNvSpPr txBox="1"/>
          <p:nvPr>
            <p:ph idx="10" type="dt"/>
          </p:nvPr>
        </p:nvSpPr>
        <p:spPr>
          <a:xfrm>
            <a:off x="51618" y="64251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6"/>
          <p:cNvSpPr txBox="1"/>
          <p:nvPr>
            <p:ph idx="11" type="ftr"/>
          </p:nvPr>
        </p:nvSpPr>
        <p:spPr>
          <a:xfrm>
            <a:off x="4081646" y="640495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>
                <a:latin typeface="Poppins Thin"/>
                <a:ea typeface="Poppins Thin"/>
                <a:cs typeface="Poppins Thin"/>
                <a:sym typeface="Poppins Th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6"/>
          <p:cNvSpPr txBox="1"/>
          <p:nvPr>
            <p:ph idx="12" type="sldNum"/>
          </p:nvPr>
        </p:nvSpPr>
        <p:spPr>
          <a:xfrm>
            <a:off x="9308692" y="64251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32" name="Google Shape;32;p36"/>
          <p:cNvGrpSpPr/>
          <p:nvPr/>
        </p:nvGrpSpPr>
        <p:grpSpPr>
          <a:xfrm>
            <a:off x="-287079" y="1977421"/>
            <a:ext cx="12488771" cy="4792659"/>
            <a:chOff x="-287079" y="2065341"/>
            <a:chExt cx="12488771" cy="4792659"/>
          </a:xfrm>
        </p:grpSpPr>
        <p:sp>
          <p:nvSpPr>
            <p:cNvPr id="33" name="Google Shape;33;p36"/>
            <p:cNvSpPr/>
            <p:nvPr/>
          </p:nvSpPr>
          <p:spPr>
            <a:xfrm flipH="1">
              <a:off x="0" y="2075974"/>
              <a:ext cx="12201692" cy="4782026"/>
            </a:xfrm>
            <a:custGeom>
              <a:rect b="b" l="l" r="r" t="t"/>
              <a:pathLst>
                <a:path extrusionOk="0" h="2590480" w="11825244">
                  <a:moveTo>
                    <a:pt x="0" y="3"/>
                  </a:moveTo>
                  <a:cubicBezTo>
                    <a:pt x="25381" y="-1730"/>
                    <a:pt x="132894" y="817758"/>
                    <a:pt x="194913" y="950246"/>
                  </a:cubicBezTo>
                  <a:cubicBezTo>
                    <a:pt x="256932" y="1082734"/>
                    <a:pt x="317610" y="1032292"/>
                    <a:pt x="372115" y="1264202"/>
                  </a:cubicBezTo>
                  <a:cubicBezTo>
                    <a:pt x="528649" y="1489818"/>
                    <a:pt x="793141" y="1543167"/>
                    <a:pt x="1038921" y="2290904"/>
                  </a:cubicBezTo>
                  <a:cubicBezTo>
                    <a:pt x="1284701" y="3038641"/>
                    <a:pt x="1582839" y="2150782"/>
                    <a:pt x="1775401" y="2152880"/>
                  </a:cubicBezTo>
                  <a:cubicBezTo>
                    <a:pt x="1967963" y="2154978"/>
                    <a:pt x="2062534" y="2325719"/>
                    <a:pt x="2194296" y="2303494"/>
                  </a:cubicBezTo>
                  <a:cubicBezTo>
                    <a:pt x="2326059" y="2281269"/>
                    <a:pt x="2547448" y="2280379"/>
                    <a:pt x="2785573" y="2274029"/>
                  </a:cubicBezTo>
                  <a:cubicBezTo>
                    <a:pt x="2862764" y="2230455"/>
                    <a:pt x="11827974" y="2418937"/>
                    <a:pt x="11825244" y="2418047"/>
                  </a:cubicBezTo>
                </a:path>
              </a:pathLst>
            </a:custGeom>
            <a:noFill/>
            <a:ln cap="flat" cmpd="sng" w="9525">
              <a:solidFill>
                <a:srgbClr val="BFBFBF">
                  <a:alpha val="80000"/>
                </a:srgbClr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36"/>
            <p:cNvSpPr/>
            <p:nvPr/>
          </p:nvSpPr>
          <p:spPr>
            <a:xfrm flipH="1">
              <a:off x="-287079" y="2065341"/>
              <a:ext cx="12478138" cy="4501076"/>
            </a:xfrm>
            <a:custGeom>
              <a:rect b="b" l="l" r="r" t="t"/>
              <a:pathLst>
                <a:path extrusionOk="0" h="2835177" w="11670557">
                  <a:moveTo>
                    <a:pt x="0" y="2"/>
                  </a:moveTo>
                  <a:cubicBezTo>
                    <a:pt x="25381" y="-1731"/>
                    <a:pt x="47731" y="1065352"/>
                    <a:pt x="99721" y="1165328"/>
                  </a:cubicBezTo>
                  <a:cubicBezTo>
                    <a:pt x="151711" y="1265304"/>
                    <a:pt x="210519" y="1299515"/>
                    <a:pt x="265024" y="1531425"/>
                  </a:cubicBezTo>
                  <a:cubicBezTo>
                    <a:pt x="439649" y="1683825"/>
                    <a:pt x="624684" y="2052754"/>
                    <a:pt x="722837" y="2316008"/>
                  </a:cubicBezTo>
                  <a:cubicBezTo>
                    <a:pt x="820990" y="2579262"/>
                    <a:pt x="829781" y="2635284"/>
                    <a:pt x="979427" y="2668927"/>
                  </a:cubicBezTo>
                  <a:cubicBezTo>
                    <a:pt x="1129073" y="2702570"/>
                    <a:pt x="1444017" y="2517942"/>
                    <a:pt x="1620714" y="2517868"/>
                  </a:cubicBezTo>
                  <a:cubicBezTo>
                    <a:pt x="1797411" y="2517794"/>
                    <a:pt x="1907847" y="2690707"/>
                    <a:pt x="2039609" y="2668482"/>
                  </a:cubicBezTo>
                  <a:cubicBezTo>
                    <a:pt x="2171372" y="2646257"/>
                    <a:pt x="2392761" y="2645367"/>
                    <a:pt x="2630886" y="2639017"/>
                  </a:cubicBezTo>
                  <a:cubicBezTo>
                    <a:pt x="2708077" y="2595443"/>
                    <a:pt x="11673287" y="2836065"/>
                    <a:pt x="11670557" y="2835175"/>
                  </a:cubicBezTo>
                </a:path>
              </a:pathLst>
            </a:custGeom>
            <a:noFill/>
            <a:ln cap="flat" cmpd="sng" w="9525">
              <a:solidFill>
                <a:srgbClr val="A5A5A5">
                  <a:alpha val="80000"/>
                </a:srgbClr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838200" y="1654047"/>
            <a:ext cx="10515600" cy="4522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type="title"/>
          </p:nvPr>
        </p:nvSpPr>
        <p:spPr>
          <a:xfrm>
            <a:off x="838200" y="365126"/>
            <a:ext cx="10515600" cy="788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  <a:defRPr b="1">
                <a:solidFill>
                  <a:srgbClr val="002B49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2" type="body"/>
          </p:nvPr>
        </p:nvSpPr>
        <p:spPr>
          <a:xfrm>
            <a:off x="2067292" y="1056730"/>
            <a:ext cx="4028708" cy="520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  <a:defRPr sz="2400">
                <a:solidFill>
                  <a:srgbClr val="ED7D3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blue and orange text on a black background&#10;&#10;Description automatically generated" id="38" name="Google Shape;3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88816" y="161911"/>
            <a:ext cx="2163076" cy="7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vision_RG">
  <p:cSld name="Wavision_RG">
    <p:bg>
      <p:bgPr>
        <a:gradFill>
          <a:gsLst>
            <a:gs pos="0">
              <a:srgbClr val="F5F7FC">
                <a:alpha val="76078"/>
              </a:srgbClr>
            </a:gs>
            <a:gs pos="74000">
              <a:srgbClr val="D8D8D8"/>
            </a:gs>
            <a:gs pos="83000">
              <a:srgbClr val="BFBFBF">
                <a:alpha val="72941"/>
              </a:srgbClr>
            </a:gs>
            <a:gs pos="100000">
              <a:srgbClr val="D0CEC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7"/>
          <p:cNvSpPr txBox="1"/>
          <p:nvPr/>
        </p:nvSpPr>
        <p:spPr>
          <a:xfrm>
            <a:off x="3333309" y="4499280"/>
            <a:ext cx="59266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it-IT" sz="2350" u="none" cap="none" strike="noStrike">
                <a:solidFill>
                  <a:schemeClr val="dk1"/>
                </a:solidFill>
                <a:latin typeface="Poppins Thin"/>
                <a:ea typeface="Poppins Thin"/>
                <a:cs typeface="Poppins Thin"/>
                <a:sym typeface="Poppins Thin"/>
              </a:rPr>
              <a:t>Science Generating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background with blue text&#10;&#10;Description automatically generated" id="41" name="Google Shape;4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28477" y="2438039"/>
            <a:ext cx="5489423" cy="246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Wavision_RG">
  <p:cSld name="1_Wavision_RG">
    <p:bg>
      <p:bgPr>
        <a:gradFill>
          <a:gsLst>
            <a:gs pos="0">
              <a:srgbClr val="F5F7FC">
                <a:alpha val="76078"/>
              </a:srgbClr>
            </a:gs>
            <a:gs pos="74000">
              <a:srgbClr val="D8D8D8"/>
            </a:gs>
            <a:gs pos="83000">
              <a:srgbClr val="BFBFBF">
                <a:alpha val="72941"/>
              </a:srgbClr>
            </a:gs>
            <a:gs pos="100000">
              <a:srgbClr val="D0CEC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8"/>
          <p:cNvSpPr txBox="1"/>
          <p:nvPr/>
        </p:nvSpPr>
        <p:spPr>
          <a:xfrm>
            <a:off x="3333309" y="4499280"/>
            <a:ext cx="59266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it-IT" sz="2350" u="none" cap="none" strike="noStrike">
                <a:solidFill>
                  <a:schemeClr val="dk1"/>
                </a:solidFill>
                <a:latin typeface="Poppins Thin"/>
                <a:ea typeface="Poppins Thin"/>
                <a:cs typeface="Poppins Thin"/>
                <a:sym typeface="Poppins Thin"/>
              </a:rPr>
              <a:t>Science Generating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04718" y="2371057"/>
            <a:ext cx="5658351" cy="2544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4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4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4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1" name="Google Shape;81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gradFill>
          <a:gsLst>
            <a:gs pos="0">
              <a:srgbClr val="DBDBDB"/>
            </a:gs>
            <a:gs pos="75000">
              <a:schemeClr val="lt1"/>
            </a:gs>
            <a:gs pos="100000">
              <a:schemeClr val="lt1"/>
            </a:gs>
          </a:gsLst>
          <a:lin ang="16200000" scaled="0"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8"/>
          <p:cNvSpPr/>
          <p:nvPr/>
        </p:nvSpPr>
        <p:spPr>
          <a:xfrm>
            <a:off x="6101435" y="-9232"/>
            <a:ext cx="6096000" cy="686723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8"/>
          <p:cNvSpPr txBox="1"/>
          <p:nvPr>
            <p:ph idx="10" type="dt"/>
          </p:nvPr>
        </p:nvSpPr>
        <p:spPr>
          <a:xfrm>
            <a:off x="51618" y="64251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8"/>
          <p:cNvSpPr txBox="1"/>
          <p:nvPr>
            <p:ph idx="12" type="sldNum"/>
          </p:nvPr>
        </p:nvSpPr>
        <p:spPr>
          <a:xfrm>
            <a:off x="9308692" y="64251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08" name="Google Shape;108;p48"/>
          <p:cNvGrpSpPr/>
          <p:nvPr/>
        </p:nvGrpSpPr>
        <p:grpSpPr>
          <a:xfrm>
            <a:off x="-287079" y="4408446"/>
            <a:ext cx="6383079" cy="2449554"/>
            <a:chOff x="-287079" y="2065341"/>
            <a:chExt cx="12488771" cy="4792659"/>
          </a:xfrm>
        </p:grpSpPr>
        <p:sp>
          <p:nvSpPr>
            <p:cNvPr id="109" name="Google Shape;109;p48"/>
            <p:cNvSpPr/>
            <p:nvPr/>
          </p:nvSpPr>
          <p:spPr>
            <a:xfrm flipH="1">
              <a:off x="0" y="2075974"/>
              <a:ext cx="12201692" cy="4782026"/>
            </a:xfrm>
            <a:custGeom>
              <a:rect b="b" l="l" r="r" t="t"/>
              <a:pathLst>
                <a:path extrusionOk="0" h="2590480" w="11825244">
                  <a:moveTo>
                    <a:pt x="0" y="3"/>
                  </a:moveTo>
                  <a:cubicBezTo>
                    <a:pt x="25381" y="-1730"/>
                    <a:pt x="132894" y="817758"/>
                    <a:pt x="194913" y="950246"/>
                  </a:cubicBezTo>
                  <a:cubicBezTo>
                    <a:pt x="256932" y="1082734"/>
                    <a:pt x="317610" y="1032292"/>
                    <a:pt x="372115" y="1264202"/>
                  </a:cubicBezTo>
                  <a:cubicBezTo>
                    <a:pt x="528649" y="1489818"/>
                    <a:pt x="793141" y="1543167"/>
                    <a:pt x="1038921" y="2290904"/>
                  </a:cubicBezTo>
                  <a:cubicBezTo>
                    <a:pt x="1284701" y="3038641"/>
                    <a:pt x="1582839" y="2150782"/>
                    <a:pt x="1775401" y="2152880"/>
                  </a:cubicBezTo>
                  <a:cubicBezTo>
                    <a:pt x="1967963" y="2154978"/>
                    <a:pt x="2062534" y="2325719"/>
                    <a:pt x="2194296" y="2303494"/>
                  </a:cubicBezTo>
                  <a:cubicBezTo>
                    <a:pt x="2326059" y="2281269"/>
                    <a:pt x="2547448" y="2280379"/>
                    <a:pt x="2785573" y="2274029"/>
                  </a:cubicBezTo>
                  <a:cubicBezTo>
                    <a:pt x="2862764" y="2230455"/>
                    <a:pt x="11827974" y="2418937"/>
                    <a:pt x="11825244" y="2418047"/>
                  </a:cubicBezTo>
                </a:path>
              </a:pathLst>
            </a:custGeom>
            <a:noFill/>
            <a:ln cap="flat" cmpd="sng" w="9525">
              <a:solidFill>
                <a:srgbClr val="002B49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48"/>
            <p:cNvSpPr/>
            <p:nvPr/>
          </p:nvSpPr>
          <p:spPr>
            <a:xfrm flipH="1">
              <a:off x="-287079" y="2065341"/>
              <a:ext cx="12478138" cy="4501076"/>
            </a:xfrm>
            <a:custGeom>
              <a:rect b="b" l="l" r="r" t="t"/>
              <a:pathLst>
                <a:path extrusionOk="0" h="2835177" w="11670557">
                  <a:moveTo>
                    <a:pt x="0" y="2"/>
                  </a:moveTo>
                  <a:cubicBezTo>
                    <a:pt x="25381" y="-1731"/>
                    <a:pt x="47731" y="1065352"/>
                    <a:pt x="99721" y="1165328"/>
                  </a:cubicBezTo>
                  <a:cubicBezTo>
                    <a:pt x="151711" y="1265304"/>
                    <a:pt x="210519" y="1299515"/>
                    <a:pt x="265024" y="1531425"/>
                  </a:cubicBezTo>
                  <a:cubicBezTo>
                    <a:pt x="439649" y="1683825"/>
                    <a:pt x="624684" y="2052754"/>
                    <a:pt x="722837" y="2316008"/>
                  </a:cubicBezTo>
                  <a:cubicBezTo>
                    <a:pt x="820990" y="2579262"/>
                    <a:pt x="829781" y="2635284"/>
                    <a:pt x="979427" y="2668927"/>
                  </a:cubicBezTo>
                  <a:cubicBezTo>
                    <a:pt x="1129073" y="2702570"/>
                    <a:pt x="1444017" y="2517942"/>
                    <a:pt x="1620714" y="2517868"/>
                  </a:cubicBezTo>
                  <a:cubicBezTo>
                    <a:pt x="1797411" y="2517794"/>
                    <a:pt x="1907847" y="2690707"/>
                    <a:pt x="2039609" y="2668482"/>
                  </a:cubicBezTo>
                  <a:cubicBezTo>
                    <a:pt x="2171372" y="2646257"/>
                    <a:pt x="2392761" y="2645367"/>
                    <a:pt x="2630886" y="2639017"/>
                  </a:cubicBezTo>
                  <a:cubicBezTo>
                    <a:pt x="2708077" y="2595443"/>
                    <a:pt x="11673287" y="2836065"/>
                    <a:pt x="11670557" y="2835175"/>
                  </a:cubicBezTo>
                </a:path>
              </a:pathLst>
            </a:custGeom>
            <a:noFill/>
            <a:ln cap="flat" cmpd="sng" w="9525">
              <a:solidFill>
                <a:srgbClr val="002B49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48"/>
          <p:cNvGrpSpPr/>
          <p:nvPr/>
        </p:nvGrpSpPr>
        <p:grpSpPr>
          <a:xfrm flipH="1">
            <a:off x="6099357" y="4411163"/>
            <a:ext cx="6383079" cy="2449554"/>
            <a:chOff x="-287079" y="2065341"/>
            <a:chExt cx="12488771" cy="4792659"/>
          </a:xfrm>
        </p:grpSpPr>
        <p:sp>
          <p:nvSpPr>
            <p:cNvPr id="112" name="Google Shape;112;p48"/>
            <p:cNvSpPr/>
            <p:nvPr/>
          </p:nvSpPr>
          <p:spPr>
            <a:xfrm flipH="1">
              <a:off x="0" y="2075974"/>
              <a:ext cx="12201692" cy="4782026"/>
            </a:xfrm>
            <a:custGeom>
              <a:rect b="b" l="l" r="r" t="t"/>
              <a:pathLst>
                <a:path extrusionOk="0" h="2590480" w="11825244">
                  <a:moveTo>
                    <a:pt x="0" y="3"/>
                  </a:moveTo>
                  <a:cubicBezTo>
                    <a:pt x="25381" y="-1730"/>
                    <a:pt x="132894" y="817758"/>
                    <a:pt x="194913" y="950246"/>
                  </a:cubicBezTo>
                  <a:cubicBezTo>
                    <a:pt x="256932" y="1082734"/>
                    <a:pt x="317610" y="1032292"/>
                    <a:pt x="372115" y="1264202"/>
                  </a:cubicBezTo>
                  <a:cubicBezTo>
                    <a:pt x="528649" y="1489818"/>
                    <a:pt x="793141" y="1543167"/>
                    <a:pt x="1038921" y="2290904"/>
                  </a:cubicBezTo>
                  <a:cubicBezTo>
                    <a:pt x="1284701" y="3038641"/>
                    <a:pt x="1582839" y="2150782"/>
                    <a:pt x="1775401" y="2152880"/>
                  </a:cubicBezTo>
                  <a:cubicBezTo>
                    <a:pt x="1967963" y="2154978"/>
                    <a:pt x="2062534" y="2325719"/>
                    <a:pt x="2194296" y="2303494"/>
                  </a:cubicBezTo>
                  <a:cubicBezTo>
                    <a:pt x="2326059" y="2281269"/>
                    <a:pt x="2547448" y="2280379"/>
                    <a:pt x="2785573" y="2274029"/>
                  </a:cubicBezTo>
                  <a:cubicBezTo>
                    <a:pt x="2862764" y="2230455"/>
                    <a:pt x="11827974" y="2418937"/>
                    <a:pt x="11825244" y="2418047"/>
                  </a:cubicBezTo>
                </a:path>
              </a:pathLst>
            </a:custGeom>
            <a:noFill/>
            <a:ln cap="flat" cmpd="sng" w="9525">
              <a:solidFill>
                <a:srgbClr val="D8D8D8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48"/>
            <p:cNvSpPr/>
            <p:nvPr/>
          </p:nvSpPr>
          <p:spPr>
            <a:xfrm flipH="1">
              <a:off x="-287079" y="2065341"/>
              <a:ext cx="12478138" cy="4501076"/>
            </a:xfrm>
            <a:custGeom>
              <a:rect b="b" l="l" r="r" t="t"/>
              <a:pathLst>
                <a:path extrusionOk="0" h="2835177" w="11670557">
                  <a:moveTo>
                    <a:pt x="0" y="2"/>
                  </a:moveTo>
                  <a:cubicBezTo>
                    <a:pt x="25381" y="-1731"/>
                    <a:pt x="47731" y="1065352"/>
                    <a:pt x="99721" y="1165328"/>
                  </a:cubicBezTo>
                  <a:cubicBezTo>
                    <a:pt x="151711" y="1265304"/>
                    <a:pt x="210519" y="1299515"/>
                    <a:pt x="265024" y="1531425"/>
                  </a:cubicBezTo>
                  <a:cubicBezTo>
                    <a:pt x="439649" y="1683825"/>
                    <a:pt x="624684" y="2052754"/>
                    <a:pt x="722837" y="2316008"/>
                  </a:cubicBezTo>
                  <a:cubicBezTo>
                    <a:pt x="820990" y="2579262"/>
                    <a:pt x="829781" y="2635284"/>
                    <a:pt x="979427" y="2668927"/>
                  </a:cubicBezTo>
                  <a:cubicBezTo>
                    <a:pt x="1129073" y="2702570"/>
                    <a:pt x="1444017" y="2517942"/>
                    <a:pt x="1620714" y="2517868"/>
                  </a:cubicBezTo>
                  <a:cubicBezTo>
                    <a:pt x="1797411" y="2517794"/>
                    <a:pt x="1907847" y="2690707"/>
                    <a:pt x="2039609" y="2668482"/>
                  </a:cubicBezTo>
                  <a:cubicBezTo>
                    <a:pt x="2171372" y="2646257"/>
                    <a:pt x="2392761" y="2645367"/>
                    <a:pt x="2630886" y="2639017"/>
                  </a:cubicBezTo>
                  <a:cubicBezTo>
                    <a:pt x="2708077" y="2595443"/>
                    <a:pt x="11673287" y="2836065"/>
                    <a:pt x="11670557" y="2835175"/>
                  </a:cubicBezTo>
                </a:path>
              </a:pathLst>
            </a:custGeom>
            <a:noFill/>
            <a:ln cap="flat" cmpd="sng" w="9525">
              <a:solidFill>
                <a:srgbClr val="D8D8D8"/>
              </a:solidFill>
              <a:prstDash val="solid"/>
              <a:miter lim="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48"/>
          <p:cNvSpPr txBox="1"/>
          <p:nvPr>
            <p:ph idx="1" type="body"/>
          </p:nvPr>
        </p:nvSpPr>
        <p:spPr>
          <a:xfrm>
            <a:off x="838200" y="1600377"/>
            <a:ext cx="5181600" cy="4576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B49"/>
              </a:buClr>
              <a:buSzPts val="2800"/>
              <a:buChar char="•"/>
              <a:defRPr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B49"/>
              </a:buClr>
              <a:buSzPts val="2400"/>
              <a:buChar char="•"/>
              <a:defRPr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B49"/>
              </a:buClr>
              <a:buSzPts val="2000"/>
              <a:buChar char="•"/>
              <a:defRPr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B49"/>
              </a:buClr>
              <a:buSzPts val="1800"/>
              <a:buChar char="•"/>
              <a:defRPr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B49"/>
              </a:buClr>
              <a:buSzPts val="1800"/>
              <a:buChar char="•"/>
              <a:defRPr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48"/>
          <p:cNvSpPr txBox="1"/>
          <p:nvPr>
            <p:ph idx="2" type="body"/>
          </p:nvPr>
        </p:nvSpPr>
        <p:spPr>
          <a:xfrm>
            <a:off x="6172200" y="1587605"/>
            <a:ext cx="5181600" cy="4589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2800"/>
              <a:buChar char="•"/>
              <a:defRPr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F2F2"/>
              </a:buClr>
              <a:buSzPts val="2400"/>
              <a:buChar char="•"/>
              <a:defRPr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F2F2"/>
              </a:buClr>
              <a:buSzPts val="2000"/>
              <a:buChar char="•"/>
              <a:defRPr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48"/>
          <p:cNvSpPr txBox="1"/>
          <p:nvPr>
            <p:ph idx="3" type="body"/>
          </p:nvPr>
        </p:nvSpPr>
        <p:spPr>
          <a:xfrm>
            <a:off x="838200" y="555625"/>
            <a:ext cx="5181600" cy="509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48"/>
          <p:cNvSpPr txBox="1"/>
          <p:nvPr>
            <p:ph idx="4" type="body"/>
          </p:nvPr>
        </p:nvSpPr>
        <p:spPr>
          <a:xfrm>
            <a:off x="838200" y="1078001"/>
            <a:ext cx="5181600" cy="509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Pts val="2200"/>
              <a:buNone/>
              <a:defRPr sz="2200">
                <a:solidFill>
                  <a:srgbClr val="ED7D3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black and white logo&#10;&#10;Description automatically generated" id="118" name="Google Shape;118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87180" y="167579"/>
            <a:ext cx="2163077" cy="7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gif"/><Relationship Id="rId4" Type="http://schemas.openxmlformats.org/officeDocument/2006/relationships/image" Target="../media/image16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Relationship Id="rId4" Type="http://schemas.openxmlformats.org/officeDocument/2006/relationships/image" Target="../media/image29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 txBox="1"/>
          <p:nvPr>
            <p:ph type="ctrTitle"/>
          </p:nvPr>
        </p:nvSpPr>
        <p:spPr>
          <a:xfrm>
            <a:off x="1947496" y="2705492"/>
            <a:ext cx="82971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ct val="100000"/>
              <a:buFont typeface="Nunito ExtraBold"/>
              <a:buNone/>
            </a:pPr>
            <a:r>
              <a:rPr lang="it-IT" sz="5300"/>
              <a:t>Design and Manufacturing of Low-Cost Antennas for Early Alzheimer’s Detection via Medical Microwave Sensing of the Neck</a:t>
            </a:r>
            <a:br>
              <a:rPr lang="it-IT"/>
            </a:br>
            <a:br>
              <a:rPr lang="it-IT"/>
            </a:br>
            <a:endParaRPr sz="3600"/>
          </a:p>
        </p:txBody>
      </p:sp>
      <p:sp>
        <p:nvSpPr>
          <p:cNvPr id="124" name="Google Shape;124;p1"/>
          <p:cNvSpPr txBox="1"/>
          <p:nvPr>
            <p:ph idx="1" type="subTitle"/>
          </p:nvPr>
        </p:nvSpPr>
        <p:spPr>
          <a:xfrm>
            <a:off x="1524000" y="4918075"/>
            <a:ext cx="9144000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2400"/>
              <a:buNone/>
            </a:pPr>
            <a:r>
              <a:rPr lang="it-IT"/>
              <a:t>Alex Peirano</a:t>
            </a:r>
            <a:endParaRPr/>
          </a:p>
        </p:txBody>
      </p:sp>
      <p:pic>
        <p:nvPicPr>
          <p:cNvPr descr="Fichier:IMT Atlantique logo.png — Wikipédia" id="125" name="Google Shape;12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625" y="5806075"/>
            <a:ext cx="1568325" cy="105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789" y="1369711"/>
            <a:ext cx="6986161" cy="400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"/>
          <p:cNvSpPr txBox="1"/>
          <p:nvPr>
            <p:ph type="title"/>
          </p:nvPr>
        </p:nvSpPr>
        <p:spPr>
          <a:xfrm>
            <a:off x="627184" y="56878"/>
            <a:ext cx="10515600" cy="788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MultiTissue block</a:t>
            </a:r>
            <a:endParaRPr/>
          </a:p>
        </p:txBody>
      </p:sp>
      <p:sp>
        <p:nvSpPr>
          <p:cNvPr id="133" name="Google Shape;133;p2"/>
          <p:cNvSpPr txBox="1"/>
          <p:nvPr>
            <p:ph idx="2" type="body"/>
          </p:nvPr>
        </p:nvSpPr>
        <p:spPr>
          <a:xfrm>
            <a:off x="627184" y="667662"/>
            <a:ext cx="4028708" cy="520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CST Model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3219681" y="819037"/>
            <a:ext cx="10720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Coupling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6602876" y="4370180"/>
            <a:ext cx="625642" cy="383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F67B7B"/>
                </a:solidFill>
                <a:latin typeface="Calibri"/>
                <a:ea typeface="Calibri"/>
                <a:cs typeface="Calibri"/>
                <a:sym typeface="Calibri"/>
              </a:rPr>
              <a:t>Skin</a:t>
            </a:r>
            <a:endParaRPr b="0" i="0" sz="1800" u="none" cap="none" strike="noStrike">
              <a:solidFill>
                <a:srgbClr val="F6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1648734" y="5300083"/>
            <a:ext cx="625642" cy="383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FF00AA"/>
                </a:solidFill>
                <a:latin typeface="Calibri"/>
                <a:ea typeface="Calibri"/>
                <a:cs typeface="Calibri"/>
                <a:sym typeface="Calibri"/>
              </a:rPr>
              <a:t>Fat</a:t>
            </a:r>
            <a:endParaRPr b="0" i="0" sz="1800" u="none" cap="none" strike="noStrike">
              <a:solidFill>
                <a:srgbClr val="FF00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6091188" y="5262488"/>
            <a:ext cx="9799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C17374"/>
                </a:solidFill>
                <a:latin typeface="Calibri"/>
                <a:ea typeface="Calibri"/>
                <a:cs typeface="Calibri"/>
                <a:sym typeface="Calibri"/>
              </a:rPr>
              <a:t>Muscle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2123735" y="5683994"/>
            <a:ext cx="9799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4573520" y="5701118"/>
            <a:ext cx="9799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06C2BE"/>
                </a:solidFill>
                <a:latin typeface="Calibri"/>
                <a:ea typeface="Calibri"/>
                <a:cs typeface="Calibri"/>
                <a:sym typeface="Calibri"/>
              </a:rPr>
              <a:t>CSF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2867109" y="5673020"/>
            <a:ext cx="12607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A5A4F7"/>
                </a:solidFill>
                <a:latin typeface="Calibri"/>
                <a:ea typeface="Calibri"/>
                <a:cs typeface="Calibri"/>
                <a:sym typeface="Calibri"/>
              </a:rPr>
              <a:t>Spinal Cord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2"/>
          <p:cNvCxnSpPr/>
          <p:nvPr/>
        </p:nvCxnSpPr>
        <p:spPr>
          <a:xfrm>
            <a:off x="3928869" y="1408102"/>
            <a:ext cx="1912818" cy="1641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42" name="Google Shape;142;p2"/>
          <p:cNvCxnSpPr/>
          <p:nvPr/>
        </p:nvCxnSpPr>
        <p:spPr>
          <a:xfrm flipH="1">
            <a:off x="2187510" y="1455684"/>
            <a:ext cx="1123134" cy="186898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43" name="Google Shape;143;p2"/>
          <p:cNvCxnSpPr>
            <a:stCxn id="135" idx="1"/>
          </p:cNvCxnSpPr>
          <p:nvPr/>
        </p:nvCxnSpPr>
        <p:spPr>
          <a:xfrm rot="10800000">
            <a:off x="5783876" y="4074636"/>
            <a:ext cx="819000" cy="48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44" name="Google Shape;144;p2"/>
          <p:cNvCxnSpPr/>
          <p:nvPr/>
        </p:nvCxnSpPr>
        <p:spPr>
          <a:xfrm rot="10800000">
            <a:off x="5647873" y="4728870"/>
            <a:ext cx="761572" cy="5626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45" name="Google Shape;145;p2"/>
          <p:cNvCxnSpPr/>
          <p:nvPr/>
        </p:nvCxnSpPr>
        <p:spPr>
          <a:xfrm flipH="1" rot="10800000">
            <a:off x="3652334" y="4961264"/>
            <a:ext cx="294626" cy="7117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46" name="Google Shape;146;p2"/>
          <p:cNvCxnSpPr/>
          <p:nvPr/>
        </p:nvCxnSpPr>
        <p:spPr>
          <a:xfrm rot="10800000">
            <a:off x="4354649" y="4841806"/>
            <a:ext cx="437742" cy="8603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47" name="Google Shape;147;p2"/>
          <p:cNvCxnSpPr/>
          <p:nvPr/>
        </p:nvCxnSpPr>
        <p:spPr>
          <a:xfrm flipH="1" rot="10800000">
            <a:off x="2443238" y="4530007"/>
            <a:ext cx="1044083" cy="1193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48" name="Google Shape;148;p2"/>
          <p:cNvCxnSpPr/>
          <p:nvPr/>
        </p:nvCxnSpPr>
        <p:spPr>
          <a:xfrm flipH="1" rot="10800000">
            <a:off x="2113495" y="4347271"/>
            <a:ext cx="886885" cy="109988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graphicFrame>
        <p:nvGraphicFramePr>
          <p:cNvPr id="149" name="Google Shape;149;p2"/>
          <p:cNvGraphicFramePr/>
          <p:nvPr/>
        </p:nvGraphicFramePr>
        <p:xfrm>
          <a:off x="7524295" y="1884582"/>
          <a:ext cx="3000000" cy="3000000"/>
        </p:xfrm>
        <a:graphic>
          <a:graphicData uri="http://schemas.openxmlformats.org/drawingml/2006/table">
            <a:tbl>
              <a:tblPr bandRow="1" firstRow="1" lastCol="1">
                <a:noFill/>
                <a:tableStyleId>{5CECF05F-0653-4E2F-8EAF-958BB876DDA2}</a:tableStyleId>
              </a:tblPr>
              <a:tblGrid>
                <a:gridCol w="1349650"/>
                <a:gridCol w="1349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THICKNESS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Coupling Medium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0.4 cm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Skin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0.14 cm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Fat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0.67 cm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Muscle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3.0  cm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Bone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0.6925 cm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CSF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0.22 cm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Spinal Cord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1 cm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50" name="Google Shape;150;p2"/>
          <p:cNvGraphicFramePr/>
          <p:nvPr/>
        </p:nvGraphicFramePr>
        <p:xfrm>
          <a:off x="10223597" y="18845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{5CECF05F-0653-4E2F-8EAF-958BB876DDA2}</a:tableStyleId>
              </a:tblPr>
              <a:tblGrid>
                <a:gridCol w="1349650"/>
              </a:tblGrid>
              <a:tr h="36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b="1" lang="it-IT" sz="1800" u="none" cap="none" strike="noStrike"/>
                        <a:t> λ</a:t>
                      </a:r>
                      <a:endParaRPr b="1" sz="18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</a:tr>
              <a:tr h="637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0.013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0.005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0.022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0.023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0.007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0.033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6035118" y="1671144"/>
            <a:ext cx="493193" cy="3507343"/>
          </a:xfrm>
          <a:prstGeom prst="rightBrace">
            <a:avLst>
              <a:gd fmla="val 41600" name="adj1"/>
              <a:gd fmla="val 4714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 rot="8838224">
            <a:off x="1893809" y="1561537"/>
            <a:ext cx="271738" cy="500750"/>
          </a:xfrm>
          <a:prstGeom prst="rightBrace">
            <a:avLst>
              <a:gd fmla="val 416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6497324" y="3001502"/>
            <a:ext cx="13320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cm, 0.3344 λ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912977" y="1417247"/>
            <a:ext cx="93082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cm, 0.2 λ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0" y="6479643"/>
            <a:ext cx="58189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Lambda computed at 1GHz considering μr = 1 and ɛrair = 1  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>
            <p:ph idx="12" type="sldNum"/>
          </p:nvPr>
        </p:nvSpPr>
        <p:spPr>
          <a:xfrm>
            <a:off x="9308692" y="64251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f03b3ef586_0_3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367" y="957412"/>
            <a:ext cx="11915260" cy="597541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f03b3ef586_0_378"/>
          <p:cNvSpPr txBox="1"/>
          <p:nvPr>
            <p:ph type="title"/>
          </p:nvPr>
        </p:nvSpPr>
        <p:spPr>
          <a:xfrm>
            <a:off x="435864" y="119254"/>
            <a:ext cx="10515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163" name="Google Shape;163;g3f03b3ef586_0_378"/>
          <p:cNvSpPr txBox="1"/>
          <p:nvPr>
            <p:ph idx="2" type="body"/>
          </p:nvPr>
        </p:nvSpPr>
        <p:spPr>
          <a:xfrm>
            <a:off x="3657305" y="295583"/>
            <a:ext cx="580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Boundary conditions</a:t>
            </a:r>
            <a:endParaRPr/>
          </a:p>
        </p:txBody>
      </p:sp>
      <p:sp>
        <p:nvSpPr>
          <p:cNvPr id="164" name="Google Shape;164;g3f03b3ef586_0_378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3f03b3ef586_0_4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5" y="907273"/>
            <a:ext cx="12074648" cy="60195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f03b3ef586_0_495"/>
          <p:cNvSpPr txBox="1"/>
          <p:nvPr>
            <p:ph type="title"/>
          </p:nvPr>
        </p:nvSpPr>
        <p:spPr>
          <a:xfrm>
            <a:off x="435864" y="119254"/>
            <a:ext cx="10515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171" name="Google Shape;171;g3f03b3ef586_0_495"/>
          <p:cNvSpPr txBox="1"/>
          <p:nvPr>
            <p:ph idx="2" type="body"/>
          </p:nvPr>
        </p:nvSpPr>
        <p:spPr>
          <a:xfrm>
            <a:off x="3657305" y="295583"/>
            <a:ext cx="580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Boundary conditions</a:t>
            </a:r>
            <a:endParaRPr/>
          </a:p>
        </p:txBody>
      </p:sp>
      <p:sp>
        <p:nvSpPr>
          <p:cNvPr id="172" name="Google Shape;172;g3f03b3ef586_0_495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03b3ef586_0_612"/>
          <p:cNvSpPr txBox="1"/>
          <p:nvPr>
            <p:ph type="title"/>
          </p:nvPr>
        </p:nvSpPr>
        <p:spPr>
          <a:xfrm>
            <a:off x="838200" y="365126"/>
            <a:ext cx="10515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179" name="Google Shape;179;g3f03b3ef586_0_612"/>
          <p:cNvSpPr txBox="1"/>
          <p:nvPr>
            <p:ph idx="2" type="body"/>
          </p:nvPr>
        </p:nvSpPr>
        <p:spPr>
          <a:xfrm>
            <a:off x="838200" y="1025577"/>
            <a:ext cx="5028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Refining the mesh</a:t>
            </a:r>
            <a:endParaRPr/>
          </a:p>
        </p:txBody>
      </p:sp>
      <p:sp>
        <p:nvSpPr>
          <p:cNvPr id="180" name="Google Shape;180;g3f03b3ef586_0_612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81" name="Google Shape;181;g3f03b3ef586_0_6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18587"/>
            <a:ext cx="6218238" cy="5439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f03b3ef586_0_6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8392" y="1153148"/>
            <a:ext cx="4585108" cy="3638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g3f03b3ef586_0_612"/>
          <p:cNvCxnSpPr/>
          <p:nvPr/>
        </p:nvCxnSpPr>
        <p:spPr>
          <a:xfrm flipH="1" rot="10800000">
            <a:off x="8153400" y="4792000"/>
            <a:ext cx="12600" cy="66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84" name="Google Shape;184;g3f03b3ef586_0_612"/>
          <p:cNvSpPr txBox="1"/>
          <p:nvPr/>
        </p:nvSpPr>
        <p:spPr>
          <a:xfrm>
            <a:off x="7467600" y="5461000"/>
            <a:ext cx="151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3x increase in the number of cells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g3f03b3ef586_0_612"/>
          <p:cNvCxnSpPr>
            <a:stCxn id="184" idx="0"/>
          </p:cNvCxnSpPr>
          <p:nvPr/>
        </p:nvCxnSpPr>
        <p:spPr>
          <a:xfrm flipH="1" rot="10800000">
            <a:off x="8223300" y="4792000"/>
            <a:ext cx="1878000" cy="66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1bf8c3b61_1_0"/>
          <p:cNvSpPr txBox="1"/>
          <p:nvPr>
            <p:ph idx="12" type="sldNum"/>
          </p:nvPr>
        </p:nvSpPr>
        <p:spPr>
          <a:xfrm>
            <a:off x="9237881" y="64360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2" name="Google Shape;192;g3f1bf8c3b61_1_0"/>
          <p:cNvSpPr txBox="1"/>
          <p:nvPr>
            <p:ph idx="2" type="body"/>
          </p:nvPr>
        </p:nvSpPr>
        <p:spPr>
          <a:xfrm>
            <a:off x="755956" y="1274444"/>
            <a:ext cx="4028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93" name="Google Shape;193;g3f1bf8c3b61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664" y="335439"/>
            <a:ext cx="8166390" cy="6672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g3f1bf8c3b61_1_0"/>
          <p:cNvCxnSpPr/>
          <p:nvPr/>
        </p:nvCxnSpPr>
        <p:spPr>
          <a:xfrm flipH="1" rot="10800000">
            <a:off x="2058739" y="594914"/>
            <a:ext cx="2073900" cy="133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g3f1bf8c3b61_1_0"/>
          <p:cNvSpPr txBox="1"/>
          <p:nvPr/>
        </p:nvSpPr>
        <p:spPr>
          <a:xfrm>
            <a:off x="2276789" y="594914"/>
            <a:ext cx="217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 mm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g3f1bf8c3b61_1_0"/>
          <p:cNvCxnSpPr/>
          <p:nvPr/>
        </p:nvCxnSpPr>
        <p:spPr>
          <a:xfrm>
            <a:off x="1917339" y="2244489"/>
            <a:ext cx="1791900" cy="413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g3f1bf8c3b61_1_0"/>
          <p:cNvSpPr txBox="1"/>
          <p:nvPr/>
        </p:nvSpPr>
        <p:spPr>
          <a:xfrm>
            <a:off x="1529439" y="4129989"/>
            <a:ext cx="217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mm 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g3f1bf8c3b61_1_0"/>
          <p:cNvCxnSpPr/>
          <p:nvPr/>
        </p:nvCxnSpPr>
        <p:spPr>
          <a:xfrm flipH="1" rot="10800000">
            <a:off x="6053339" y="4907689"/>
            <a:ext cx="294600" cy="2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g3f1bf8c3b61_1_0"/>
          <p:cNvSpPr txBox="1"/>
          <p:nvPr/>
        </p:nvSpPr>
        <p:spPr>
          <a:xfrm>
            <a:off x="6053339" y="5007877"/>
            <a:ext cx="217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 mm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g3f1bf8c3b61_1_0"/>
          <p:cNvCxnSpPr/>
          <p:nvPr/>
        </p:nvCxnSpPr>
        <p:spPr>
          <a:xfrm flipH="1" rot="10800000">
            <a:off x="4274039" y="5602764"/>
            <a:ext cx="1143000" cy="71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g3f1bf8c3b61_1_0"/>
          <p:cNvSpPr txBox="1"/>
          <p:nvPr/>
        </p:nvSpPr>
        <p:spPr>
          <a:xfrm>
            <a:off x="4626739" y="5885764"/>
            <a:ext cx="217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 mm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f1bf8c3b61_1_0"/>
          <p:cNvSpPr txBox="1"/>
          <p:nvPr/>
        </p:nvSpPr>
        <p:spPr>
          <a:xfrm>
            <a:off x="8801614" y="1661475"/>
            <a:ext cx="3323100" cy="4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it-IT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Thickness of the copper: </a:t>
            </a:r>
            <a:r>
              <a:rPr b="1" i="0" lang="it-IT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0.035mm</a:t>
            </a:r>
            <a:r>
              <a:rPr b="0" i="0" lang="it-IT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1bf8c3b61_1_0"/>
          <p:cNvSpPr/>
          <p:nvPr/>
        </p:nvSpPr>
        <p:spPr>
          <a:xfrm rot="-7249413">
            <a:off x="4410475" y="4227938"/>
            <a:ext cx="231267" cy="340802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g3f1bf8c3b61_1_0"/>
          <p:cNvCxnSpPr/>
          <p:nvPr/>
        </p:nvCxnSpPr>
        <p:spPr>
          <a:xfrm flipH="1" rot="10800000">
            <a:off x="4626745" y="4443489"/>
            <a:ext cx="2088300" cy="5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205" name="Google Shape;205;g3f1bf8c3b61_1_0"/>
          <p:cNvSpPr txBox="1"/>
          <p:nvPr/>
        </p:nvSpPr>
        <p:spPr>
          <a:xfrm>
            <a:off x="6904037" y="4284636"/>
            <a:ext cx="16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Wfeed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1bf8c3b61_1_0"/>
          <p:cNvSpPr txBox="1"/>
          <p:nvPr/>
        </p:nvSpPr>
        <p:spPr>
          <a:xfrm>
            <a:off x="1725913" y="5381240"/>
            <a:ext cx="16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Lgnd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1bf8c3b61_1_0"/>
          <p:cNvSpPr/>
          <p:nvPr/>
        </p:nvSpPr>
        <p:spPr>
          <a:xfrm rot="-1438589">
            <a:off x="3536406" y="4926740"/>
            <a:ext cx="249531" cy="1278301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g3f1bf8c3b61_1_0"/>
          <p:cNvCxnSpPr/>
          <p:nvPr/>
        </p:nvCxnSpPr>
        <p:spPr>
          <a:xfrm flipH="1">
            <a:off x="2367746" y="5602759"/>
            <a:ext cx="1115700" cy="1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209" name="Google Shape;209;g3f1bf8c3b61_1_0"/>
          <p:cNvSpPr/>
          <p:nvPr/>
        </p:nvSpPr>
        <p:spPr>
          <a:xfrm rot="-6837749">
            <a:off x="4419488" y="4764089"/>
            <a:ext cx="141824" cy="112003"/>
          </a:xfrm>
          <a:prstGeom prst="leftBrace">
            <a:avLst>
              <a:gd fmla="val 8333" name="adj1"/>
              <a:gd fmla="val 3185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g3f1bf8c3b61_1_0"/>
          <p:cNvCxnSpPr/>
          <p:nvPr/>
        </p:nvCxnSpPr>
        <p:spPr>
          <a:xfrm flipH="1" rot="10800000">
            <a:off x="4545152" y="4951176"/>
            <a:ext cx="3140700" cy="24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211" name="Google Shape;211;g3f1bf8c3b61_1_0"/>
          <p:cNvSpPr txBox="1"/>
          <p:nvPr/>
        </p:nvSpPr>
        <p:spPr>
          <a:xfrm>
            <a:off x="7685849" y="4778807"/>
            <a:ext cx="16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Lgap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1bf8c3b61_1_0"/>
          <p:cNvSpPr/>
          <p:nvPr/>
        </p:nvSpPr>
        <p:spPr>
          <a:xfrm rot="-1504666">
            <a:off x="4271049" y="4300560"/>
            <a:ext cx="170580" cy="132580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g3f1bf8c3b61_1_0"/>
          <p:cNvCxnSpPr/>
          <p:nvPr/>
        </p:nvCxnSpPr>
        <p:spPr>
          <a:xfrm rot="10800000">
            <a:off x="2389749" y="4962200"/>
            <a:ext cx="1884300" cy="2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214" name="Google Shape;214;g3f1bf8c3b61_1_0"/>
          <p:cNvSpPr txBox="1"/>
          <p:nvPr/>
        </p:nvSpPr>
        <p:spPr>
          <a:xfrm>
            <a:off x="755955" y="4753503"/>
            <a:ext cx="16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Lgnd + Lgap + 1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g3f1bf8c3b61_1_0"/>
          <p:cNvGraphicFramePr/>
          <p:nvPr/>
        </p:nvGraphicFramePr>
        <p:xfrm>
          <a:off x="8820740" y="26622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{5CECF05F-0653-4E2F-8EAF-958BB876DDA2}</a:tableStyleId>
              </a:tblPr>
              <a:tblGrid>
                <a:gridCol w="1659425"/>
                <a:gridCol w="1690725"/>
              </a:tblGrid>
              <a:tr h="51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it-IT" sz="1800"/>
                        <a:t>VARIABLES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</a:tr>
              <a:tr h="51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wfeed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2.9 mm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1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Lgap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0.5 mm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1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Wgnd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10 mm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1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Lgnd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10 mm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6" name="Google Shape;216;g3f1bf8c3b61_1_0"/>
          <p:cNvSpPr txBox="1"/>
          <p:nvPr>
            <p:ph type="title"/>
          </p:nvPr>
        </p:nvSpPr>
        <p:spPr>
          <a:xfrm>
            <a:off x="627184" y="56878"/>
            <a:ext cx="10515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Optimized Antenna</a:t>
            </a:r>
            <a:endParaRPr/>
          </a:p>
        </p:txBody>
      </p:sp>
      <p:sp>
        <p:nvSpPr>
          <p:cNvPr id="217" name="Google Shape;217;g3f1bf8c3b61_1_0"/>
          <p:cNvSpPr txBox="1"/>
          <p:nvPr>
            <p:ph idx="2" type="body"/>
          </p:nvPr>
        </p:nvSpPr>
        <p:spPr>
          <a:xfrm>
            <a:off x="5961209" y="280637"/>
            <a:ext cx="4028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Ring topology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3f03b3ef58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611" y="1111393"/>
            <a:ext cx="2851310" cy="3276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f03b3ef58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7202" y="2580751"/>
            <a:ext cx="3969265" cy="386219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f03b3ef586_0_0"/>
          <p:cNvSpPr txBox="1"/>
          <p:nvPr>
            <p:ph type="title"/>
          </p:nvPr>
        </p:nvSpPr>
        <p:spPr>
          <a:xfrm>
            <a:off x="627184" y="56878"/>
            <a:ext cx="10515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Optimized Antenna</a:t>
            </a:r>
            <a:endParaRPr/>
          </a:p>
        </p:txBody>
      </p:sp>
      <p:sp>
        <p:nvSpPr>
          <p:cNvPr id="226" name="Google Shape;226;g3f03b3ef586_0_0"/>
          <p:cNvSpPr txBox="1"/>
          <p:nvPr>
            <p:ph idx="2" type="body"/>
          </p:nvPr>
        </p:nvSpPr>
        <p:spPr>
          <a:xfrm>
            <a:off x="5961209" y="280637"/>
            <a:ext cx="4028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Ring topology </a:t>
            </a:r>
            <a:endParaRPr/>
          </a:p>
        </p:txBody>
      </p:sp>
      <p:graphicFrame>
        <p:nvGraphicFramePr>
          <p:cNvPr id="227" name="Google Shape;227;g3f03b3ef586_0_0"/>
          <p:cNvGraphicFramePr/>
          <p:nvPr/>
        </p:nvGraphicFramePr>
        <p:xfrm>
          <a:off x="7980008" y="11113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{A7738C47-F035-440D-860A-2764707D15DB}</a:tableStyleId>
              </a:tblPr>
              <a:tblGrid>
                <a:gridCol w="1659425"/>
                <a:gridCol w="1690725"/>
              </a:tblGrid>
              <a:tr h="51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</a:tr>
              <a:tr h="51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R_ext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it-IT" sz="1800" u="none" cap="none" strike="noStrike"/>
                        <a:t>R_m - w_slot/2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1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R_int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R_m + w_slot/2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1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R_m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4.03 mm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1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w_slot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0.5 mm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8" name="Google Shape;228;g3f03b3ef586_0_0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cxnSp>
        <p:nvCxnSpPr>
          <p:cNvPr id="229" name="Google Shape;229;g3f03b3ef586_0_0"/>
          <p:cNvCxnSpPr/>
          <p:nvPr/>
        </p:nvCxnSpPr>
        <p:spPr>
          <a:xfrm>
            <a:off x="5360276" y="5442116"/>
            <a:ext cx="2943000" cy="10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30" name="Google Shape;230;g3f03b3ef586_0_0"/>
          <p:cNvCxnSpPr/>
          <p:nvPr/>
        </p:nvCxnSpPr>
        <p:spPr>
          <a:xfrm>
            <a:off x="5884984" y="4859388"/>
            <a:ext cx="2391300" cy="9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31" name="Google Shape;231;g3f03b3ef586_0_0"/>
          <p:cNvSpPr txBox="1"/>
          <p:nvPr/>
        </p:nvSpPr>
        <p:spPr>
          <a:xfrm>
            <a:off x="8396084" y="5361020"/>
            <a:ext cx="167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R_ext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03b3ef586_0_0"/>
          <p:cNvSpPr txBox="1"/>
          <p:nvPr/>
        </p:nvSpPr>
        <p:spPr>
          <a:xfrm>
            <a:off x="8409886" y="4692134"/>
            <a:ext cx="167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R_int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g3f03b3ef586_0_0"/>
          <p:cNvCxnSpPr/>
          <p:nvPr/>
        </p:nvCxnSpPr>
        <p:spPr>
          <a:xfrm>
            <a:off x="5444359" y="4403834"/>
            <a:ext cx="956400" cy="94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4" name="Google Shape;234;g3f03b3ef586_0_0"/>
          <p:cNvCxnSpPr/>
          <p:nvPr/>
        </p:nvCxnSpPr>
        <p:spPr>
          <a:xfrm flipH="1">
            <a:off x="5276059" y="4403834"/>
            <a:ext cx="168300" cy="171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5" name="Google Shape;235;g3f03b3ef586_0_0"/>
          <p:cNvCxnSpPr/>
          <p:nvPr/>
        </p:nvCxnSpPr>
        <p:spPr>
          <a:xfrm flipH="1">
            <a:off x="4256659" y="4436108"/>
            <a:ext cx="1187700" cy="677400"/>
          </a:xfrm>
          <a:prstGeom prst="straightConnector1">
            <a:avLst/>
          </a:prstGeom>
          <a:noFill/>
          <a:ln cap="flat" cmpd="sng" w="28575">
            <a:solidFill>
              <a:srgbClr val="FFC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6" name="Google Shape;236;g3f03b3ef586_0_0"/>
          <p:cNvCxnSpPr/>
          <p:nvPr/>
        </p:nvCxnSpPr>
        <p:spPr>
          <a:xfrm rot="10800000">
            <a:off x="2909307" y="4991621"/>
            <a:ext cx="1491900" cy="1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37" name="Google Shape;237;g3f03b3ef586_0_0"/>
          <p:cNvSpPr txBox="1"/>
          <p:nvPr/>
        </p:nvSpPr>
        <p:spPr>
          <a:xfrm>
            <a:off x="2292842" y="4765706"/>
            <a:ext cx="167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R_m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g3f03b3ef586_0_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5436" y="1098262"/>
            <a:ext cx="4349914" cy="51490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4" name="Google Shape;244;g3f03b3ef586_0_129"/>
          <p:cNvGraphicFramePr/>
          <p:nvPr/>
        </p:nvGraphicFramePr>
        <p:xfrm>
          <a:off x="8719717" y="14372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{A7738C47-F035-440D-860A-2764707D15DB}</a:tableStyleId>
              </a:tblPr>
              <a:tblGrid>
                <a:gridCol w="1650525"/>
                <a:gridCol w="1681650"/>
              </a:tblGrid>
              <a:tr h="50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</a:tr>
              <a:tr h="63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R_ext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it-IT" sz="1800" u="none" cap="none" strike="noStrike"/>
                        <a:t>5.25 mm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0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R_int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4.75 mm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434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R_m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5 mm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0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w_slot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0.5 mm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0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y_offset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 mm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45" name="Google Shape;245;g3f03b3ef586_0_129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246" name="Google Shape;246;g3f03b3ef586_0_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611" y="1085132"/>
            <a:ext cx="4504280" cy="517534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f03b3ef586_0_129"/>
          <p:cNvSpPr/>
          <p:nvPr/>
        </p:nvSpPr>
        <p:spPr>
          <a:xfrm>
            <a:off x="2091558" y="2764220"/>
            <a:ext cx="183900" cy="177600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03b3ef586_0_129"/>
          <p:cNvSpPr/>
          <p:nvPr/>
        </p:nvSpPr>
        <p:spPr>
          <a:xfrm>
            <a:off x="6140921" y="2690131"/>
            <a:ext cx="183900" cy="177600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03b3ef586_0_129"/>
          <p:cNvSpPr/>
          <p:nvPr/>
        </p:nvSpPr>
        <p:spPr>
          <a:xfrm>
            <a:off x="6175034" y="3090674"/>
            <a:ext cx="183900" cy="177600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g3f03b3ef586_0_129"/>
          <p:cNvCxnSpPr>
            <a:stCxn id="248" idx="0"/>
            <a:endCxn id="249" idx="4"/>
          </p:cNvCxnSpPr>
          <p:nvPr/>
        </p:nvCxnSpPr>
        <p:spPr>
          <a:xfrm>
            <a:off x="6232871" y="2690131"/>
            <a:ext cx="34200" cy="57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51" name="Google Shape;251;g3f03b3ef586_0_129"/>
          <p:cNvCxnSpPr/>
          <p:nvPr/>
        </p:nvCxnSpPr>
        <p:spPr>
          <a:xfrm flipH="1" rot="10800000">
            <a:off x="6266999" y="1660724"/>
            <a:ext cx="1216500" cy="1318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52" name="Google Shape;252;g3f03b3ef586_0_129"/>
          <p:cNvSpPr txBox="1"/>
          <p:nvPr/>
        </p:nvSpPr>
        <p:spPr>
          <a:xfrm>
            <a:off x="7415168" y="1364518"/>
            <a:ext cx="121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Y_offset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f03b3ef586_0_129"/>
          <p:cNvSpPr txBox="1"/>
          <p:nvPr>
            <p:ph type="title"/>
          </p:nvPr>
        </p:nvSpPr>
        <p:spPr>
          <a:xfrm>
            <a:off x="627184" y="56878"/>
            <a:ext cx="10515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Optimized Antenna</a:t>
            </a:r>
            <a:endParaRPr/>
          </a:p>
        </p:txBody>
      </p:sp>
      <p:sp>
        <p:nvSpPr>
          <p:cNvPr id="254" name="Google Shape;254;g3f03b3ef586_0_129"/>
          <p:cNvSpPr txBox="1"/>
          <p:nvPr>
            <p:ph idx="2" type="body"/>
          </p:nvPr>
        </p:nvSpPr>
        <p:spPr>
          <a:xfrm>
            <a:off x="5961209" y="280637"/>
            <a:ext cx="4028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Ring topology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03b3ef586_0_255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1" name="Google Shape;261;g3f03b3ef586_0_255"/>
          <p:cNvSpPr txBox="1"/>
          <p:nvPr>
            <p:ph idx="1" type="body"/>
          </p:nvPr>
        </p:nvSpPr>
        <p:spPr>
          <a:xfrm>
            <a:off x="838200" y="1654047"/>
            <a:ext cx="10515600" cy="452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f03b3ef586_0_255"/>
          <p:cNvSpPr txBox="1"/>
          <p:nvPr>
            <p:ph type="title"/>
          </p:nvPr>
        </p:nvSpPr>
        <p:spPr>
          <a:xfrm>
            <a:off x="838200" y="365126"/>
            <a:ext cx="10515600" cy="788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Preliminary computations </a:t>
            </a:r>
            <a:endParaRPr/>
          </a:p>
        </p:txBody>
      </p:sp>
      <p:sp>
        <p:nvSpPr>
          <p:cNvPr id="263" name="Google Shape;263;g3f03b3ef586_0_255"/>
          <p:cNvSpPr txBox="1"/>
          <p:nvPr>
            <p:ph idx="2" type="body"/>
          </p:nvPr>
        </p:nvSpPr>
        <p:spPr>
          <a:xfrm>
            <a:off x="838192" y="1044980"/>
            <a:ext cx="4028700" cy="52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Ring Topology</a:t>
            </a:r>
            <a:endParaRPr/>
          </a:p>
        </p:txBody>
      </p:sp>
      <p:pic>
        <p:nvPicPr>
          <p:cNvPr id="264" name="Google Shape;264;g3f03b3ef586_0_2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025" y="1654056"/>
            <a:ext cx="5242900" cy="116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f03b3ef586_0_255" title="Capture d’écran 2026-06-10 à 10.52.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4025" y="2815450"/>
            <a:ext cx="5242900" cy="209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f03b3ef586_0_255"/>
          <p:cNvSpPr txBox="1"/>
          <p:nvPr/>
        </p:nvSpPr>
        <p:spPr>
          <a:xfrm>
            <a:off x="6338225" y="2641825"/>
            <a:ext cx="4891800" cy="31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Choice of the </a:t>
            </a:r>
            <a:r>
              <a:rPr b="1" lang="it-IT" sz="22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r>
              <a:rPr b="1" lang="it-IT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the fundamental mode because of </a:t>
            </a:r>
            <a:r>
              <a:rPr b="1" i="1" lang="it-IT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restriction</a:t>
            </a:r>
            <a:r>
              <a:rPr b="1" lang="it-IT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i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= 1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get a mean radius of </a:t>
            </a: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8mm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but the patch radius is </a:t>
            </a:r>
            <a:r>
              <a:rPr b="1"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10mm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g3f03b3ef586_0_255" title="Capture d’écran 2026-06-10 à 11.00.1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4025" y="4911930"/>
            <a:ext cx="2952050" cy="94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f03b3ef586_0_255"/>
          <p:cNvSpPr txBox="1"/>
          <p:nvPr/>
        </p:nvSpPr>
        <p:spPr>
          <a:xfrm>
            <a:off x="92964" y="6469236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(1) See last citation slide </a:t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03b3ef586_0_734"/>
          <p:cNvSpPr txBox="1"/>
          <p:nvPr>
            <p:ph type="title"/>
          </p:nvPr>
        </p:nvSpPr>
        <p:spPr>
          <a:xfrm>
            <a:off x="435864" y="119254"/>
            <a:ext cx="10515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274" name="Google Shape;274;g3f03b3ef586_0_734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275" name="Google Shape;275;g3f03b3ef586_0_734" title="S11_goodmod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3725"/>
            <a:ext cx="11138082" cy="607532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f03b3ef586_0_734"/>
          <p:cNvSpPr txBox="1"/>
          <p:nvPr/>
        </p:nvSpPr>
        <p:spPr>
          <a:xfrm>
            <a:off x="92964" y="6469236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(1) S(1,1) of the</a:t>
            </a:r>
            <a:r>
              <a:rPr i="1"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current antenna, highlighting the adaptation valleys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03b3ef586_0_734"/>
          <p:cNvSpPr txBox="1"/>
          <p:nvPr>
            <p:ph idx="2" type="body"/>
          </p:nvPr>
        </p:nvSpPr>
        <p:spPr>
          <a:xfrm>
            <a:off x="3934434" y="311837"/>
            <a:ext cx="4028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Ring topology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de4082801_0_46"/>
          <p:cNvSpPr txBox="1"/>
          <p:nvPr/>
        </p:nvSpPr>
        <p:spPr>
          <a:xfrm>
            <a:off x="112812" y="6513300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Surface current visualisation in dB and linear units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ede4082801_0_46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284" name="Google Shape;284;g3ede4082801_0_46" title="hfield_linea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7546" y="304800"/>
            <a:ext cx="4760290" cy="612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ede4082801_0_46" title="hfield_dB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800" y="216675"/>
            <a:ext cx="4828832" cy="620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de4082801_0_34"/>
          <p:cNvSpPr txBox="1"/>
          <p:nvPr>
            <p:ph type="title"/>
          </p:nvPr>
        </p:nvSpPr>
        <p:spPr>
          <a:xfrm>
            <a:off x="435864" y="119254"/>
            <a:ext cx="10515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291" name="Google Shape;291;g3ede4082801_0_34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292" name="Google Shape;292;g3ede4082801_0_34" title="S21_good_mode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75" y="828500"/>
            <a:ext cx="10858502" cy="592281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ede4082801_0_34"/>
          <p:cNvSpPr txBox="1"/>
          <p:nvPr/>
        </p:nvSpPr>
        <p:spPr>
          <a:xfrm>
            <a:off x="92964" y="6469236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(1) S(2,1) for the current updated antenna topology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ede4082801_0_34"/>
          <p:cNvSpPr txBox="1"/>
          <p:nvPr>
            <p:ph idx="2" type="body"/>
          </p:nvPr>
        </p:nvSpPr>
        <p:spPr>
          <a:xfrm>
            <a:off x="3934434" y="311837"/>
            <a:ext cx="4028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Ring topology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g3f03b3ef586_0_8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00" y="497688"/>
            <a:ext cx="8745451" cy="636032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f03b3ef586_0_852"/>
          <p:cNvSpPr txBox="1"/>
          <p:nvPr/>
        </p:nvSpPr>
        <p:spPr>
          <a:xfrm>
            <a:off x="112812" y="6513300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Electric field visualisation in dB 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03b3ef586_0_852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02" name="Google Shape;302;g3f03b3ef586_0_852"/>
          <p:cNvSpPr txBox="1"/>
          <p:nvPr>
            <p:ph idx="2" type="body"/>
          </p:nvPr>
        </p:nvSpPr>
        <p:spPr>
          <a:xfrm>
            <a:off x="5923012" y="252923"/>
            <a:ext cx="5028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Electric Field (dB)</a:t>
            </a:r>
            <a:endParaRPr/>
          </a:p>
        </p:txBody>
      </p:sp>
      <p:sp>
        <p:nvSpPr>
          <p:cNvPr id="303" name="Google Shape;303;g3f03b3ef586_0_852"/>
          <p:cNvSpPr txBox="1"/>
          <p:nvPr>
            <p:ph type="title"/>
          </p:nvPr>
        </p:nvSpPr>
        <p:spPr>
          <a:xfrm>
            <a:off x="435864" y="119216"/>
            <a:ext cx="10515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g3f03b3ef586_0_9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125" y="607050"/>
            <a:ext cx="8595051" cy="625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f03b3ef586_0_970"/>
          <p:cNvSpPr txBox="1"/>
          <p:nvPr>
            <p:ph type="title"/>
          </p:nvPr>
        </p:nvSpPr>
        <p:spPr>
          <a:xfrm>
            <a:off x="435864" y="119254"/>
            <a:ext cx="10515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310" name="Google Shape;310;g3f03b3ef586_0_970"/>
          <p:cNvSpPr txBox="1"/>
          <p:nvPr>
            <p:ph idx="2" type="body"/>
          </p:nvPr>
        </p:nvSpPr>
        <p:spPr>
          <a:xfrm>
            <a:off x="5755318" y="252898"/>
            <a:ext cx="5028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E-field (linear)</a:t>
            </a:r>
            <a:endParaRPr/>
          </a:p>
        </p:txBody>
      </p:sp>
      <p:sp>
        <p:nvSpPr>
          <p:cNvPr id="311" name="Google Shape;311;g3f03b3ef586_0_970"/>
          <p:cNvSpPr txBox="1"/>
          <p:nvPr/>
        </p:nvSpPr>
        <p:spPr>
          <a:xfrm>
            <a:off x="112812" y="6513300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E-field visualisation in linear units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03b3ef586_0_970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g3f03b3ef586_0_10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575" y="504400"/>
            <a:ext cx="8736200" cy="63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f03b3ef586_0_1088"/>
          <p:cNvSpPr txBox="1"/>
          <p:nvPr>
            <p:ph type="title"/>
          </p:nvPr>
        </p:nvSpPr>
        <p:spPr>
          <a:xfrm>
            <a:off x="435864" y="119254"/>
            <a:ext cx="10515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319" name="Google Shape;319;g3f03b3ef586_0_1088"/>
          <p:cNvSpPr txBox="1"/>
          <p:nvPr>
            <p:ph idx="2" type="body"/>
          </p:nvPr>
        </p:nvSpPr>
        <p:spPr>
          <a:xfrm>
            <a:off x="3743366" y="285464"/>
            <a:ext cx="5028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Normalized E-field (dB)</a:t>
            </a:r>
            <a:endParaRPr/>
          </a:p>
        </p:txBody>
      </p:sp>
      <p:sp>
        <p:nvSpPr>
          <p:cNvPr id="320" name="Google Shape;320;g3f03b3ef586_0_1088"/>
          <p:cNvSpPr txBox="1"/>
          <p:nvPr/>
        </p:nvSpPr>
        <p:spPr>
          <a:xfrm>
            <a:off x="112812" y="6513300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E-field normalized by it’s maximum value in dB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03b3ef586_0_1088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g3f03b3ef586_0_1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000" y="373855"/>
            <a:ext cx="8915701" cy="648414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3f03b3ef586_0_1206"/>
          <p:cNvSpPr txBox="1"/>
          <p:nvPr>
            <p:ph type="title"/>
          </p:nvPr>
        </p:nvSpPr>
        <p:spPr>
          <a:xfrm>
            <a:off x="435864" y="119254"/>
            <a:ext cx="10515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328" name="Google Shape;328;g3f03b3ef586_0_1206"/>
          <p:cNvSpPr txBox="1"/>
          <p:nvPr>
            <p:ph idx="2" type="body"/>
          </p:nvPr>
        </p:nvSpPr>
        <p:spPr>
          <a:xfrm>
            <a:off x="3743366" y="285464"/>
            <a:ext cx="5028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Normalized E-field visualization</a:t>
            </a:r>
            <a:endParaRPr/>
          </a:p>
        </p:txBody>
      </p:sp>
      <p:sp>
        <p:nvSpPr>
          <p:cNvPr id="329" name="Google Shape;329;g3f03b3ef586_0_1206"/>
          <p:cNvSpPr txBox="1"/>
          <p:nvPr/>
        </p:nvSpPr>
        <p:spPr>
          <a:xfrm>
            <a:off x="112812" y="6513300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E-field normalized by it’s maximum value in linear units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f03b3ef586_0_1206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"/>
          <p:cNvSpPr txBox="1"/>
          <p:nvPr>
            <p:ph type="title"/>
          </p:nvPr>
        </p:nvSpPr>
        <p:spPr>
          <a:xfrm>
            <a:off x="435864" y="119254"/>
            <a:ext cx="10515600" cy="788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336" name="Google Shape;336;p15"/>
          <p:cNvSpPr txBox="1"/>
          <p:nvPr>
            <p:ph idx="2" type="body"/>
          </p:nvPr>
        </p:nvSpPr>
        <p:spPr>
          <a:xfrm>
            <a:off x="3858605" y="339321"/>
            <a:ext cx="580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Changing the % of graphite</a:t>
            </a:r>
            <a:endParaRPr/>
          </a:p>
        </p:txBody>
      </p:sp>
      <p:sp>
        <p:nvSpPr>
          <p:cNvPr id="337" name="Google Shape;337;p15"/>
          <p:cNvSpPr txBox="1"/>
          <p:nvPr>
            <p:ph idx="12" type="sldNum"/>
          </p:nvPr>
        </p:nvSpPr>
        <p:spPr>
          <a:xfrm>
            <a:off x="9308692" y="64251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338" name="Google Shape;338;p15" title="S11_grap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73725"/>
            <a:ext cx="10785559" cy="588302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5"/>
          <p:cNvSpPr txBox="1"/>
          <p:nvPr/>
        </p:nvSpPr>
        <p:spPr>
          <a:xfrm>
            <a:off x="92964" y="6469236"/>
            <a:ext cx="8915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(1) S(1,1) of different % of graphite for the material used in the coupling medium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"/>
          <p:cNvSpPr txBox="1"/>
          <p:nvPr>
            <p:ph type="title"/>
          </p:nvPr>
        </p:nvSpPr>
        <p:spPr>
          <a:xfrm>
            <a:off x="435864" y="119254"/>
            <a:ext cx="10515600" cy="788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345" name="Google Shape;345;p16"/>
          <p:cNvSpPr txBox="1"/>
          <p:nvPr>
            <p:ph idx="12" type="sldNum"/>
          </p:nvPr>
        </p:nvSpPr>
        <p:spPr>
          <a:xfrm>
            <a:off x="9308692" y="64251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346" name="Google Shape;346;p16" title="S21_graphit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73725"/>
            <a:ext cx="10909672" cy="595072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6"/>
          <p:cNvSpPr txBox="1"/>
          <p:nvPr/>
        </p:nvSpPr>
        <p:spPr>
          <a:xfrm>
            <a:off x="92964" y="6469236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(1) S(2,1) of different % of graphite for the material used in the coupling medium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 txBox="1"/>
          <p:nvPr>
            <p:ph idx="2" type="body"/>
          </p:nvPr>
        </p:nvSpPr>
        <p:spPr>
          <a:xfrm>
            <a:off x="3858605" y="339321"/>
            <a:ext cx="580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Changing the % of graphite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a775fbc22_0_26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55" name="Google Shape;355;g3ea775fbc22_0_26"/>
          <p:cNvSpPr txBox="1"/>
          <p:nvPr>
            <p:ph type="title"/>
          </p:nvPr>
        </p:nvSpPr>
        <p:spPr>
          <a:xfrm>
            <a:off x="838200" y="365126"/>
            <a:ext cx="10515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t-IT"/>
              <a:t>Neck thickness</a:t>
            </a:r>
            <a:endParaRPr/>
          </a:p>
        </p:txBody>
      </p:sp>
      <p:graphicFrame>
        <p:nvGraphicFramePr>
          <p:cNvPr id="356" name="Google Shape;356;g3ea775fbc22_0_26"/>
          <p:cNvGraphicFramePr/>
          <p:nvPr/>
        </p:nvGraphicFramePr>
        <p:xfrm>
          <a:off x="1350645" y="1637607"/>
          <a:ext cx="3000000" cy="3000000"/>
        </p:xfrm>
        <a:graphic>
          <a:graphicData uri="http://schemas.openxmlformats.org/drawingml/2006/table">
            <a:tbl>
              <a:tblPr bandRow="1" firstRow="1" lastCol="1">
                <a:noFill/>
                <a:tableStyleId>{5CECF05F-0653-4E2F-8EAF-958BB876DDA2}</a:tableStyleId>
              </a:tblPr>
              <a:tblGrid>
                <a:gridCol w="1222700"/>
                <a:gridCol w="1222700"/>
                <a:gridCol w="1222700"/>
                <a:gridCol w="1504925"/>
              </a:tblGrid>
              <a:tr h="566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it-IT" sz="1800" u="none" cap="none" strike="noStrike"/>
                        <a:t>NORMAL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it-IT" sz="1800" u="none" cap="none" strike="noStrike"/>
                        <a:t>AVERAGE</a:t>
                      </a:r>
                      <a:endParaRPr b="1" sz="18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it-IT" sz="1800" u="none" cap="none" strike="noStrike"/>
                        <a:t>OVERWEIGHT</a:t>
                      </a:r>
                      <a:endParaRPr b="1" sz="18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</a:tr>
              <a:tr h="423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Study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11.05cm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12.3cm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&gt;12.35cm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56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Study 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11.09cm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11.3cm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&gt;11.52cm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57" name="Google Shape;357;g3ea775fbc22_0_26"/>
          <p:cNvSpPr txBox="1"/>
          <p:nvPr/>
        </p:nvSpPr>
        <p:spPr>
          <a:xfrm>
            <a:off x="364525" y="3492500"/>
            <a:ext cx="11687400" cy="28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arenBoth"/>
            </a:pPr>
            <a:r>
              <a:rPr b="1" i="0" lang="it-IT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it-IT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tudy 1 :</a:t>
            </a:r>
            <a:r>
              <a:rPr b="0" i="0" lang="it-IT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it-IT" sz="22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Neck Circumference May Be a Better Alternative to Standard Anthropometric Measures</a:t>
            </a:r>
            <a:endParaRPr b="0" i="1" sz="2200" u="none" cap="none" strike="noStrike">
              <a:solidFill>
                <a:srgbClr val="1B1B1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Healthy Hispanics (no </a:t>
            </a:r>
            <a:r>
              <a:rPr b="0" i="1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diabetes</a:t>
            </a: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1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cardiovascular</a:t>
            </a: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diseases)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Study 2 :</a:t>
            </a:r>
            <a:r>
              <a:rPr b="0" i="0" lang="it-IT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it-IT" sz="2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Neck circumference as a useful marker of obesity: A comparison with body mass index and waist circumference</a:t>
            </a:r>
            <a:endParaRPr b="0" i="1" sz="2200" u="none" cap="none" strike="noStrik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800"/>
              <a:buFont typeface="Arial"/>
              <a:buChar char="-"/>
            </a:pPr>
            <a:r>
              <a:rPr b="0" i="0" lang="it-IT" sz="18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Pakistani dental students</a:t>
            </a:r>
            <a:endParaRPr b="0" i="0" sz="1800" u="none" cap="none" strike="noStrik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ea775fbc22_0_26"/>
          <p:cNvSpPr txBox="1"/>
          <p:nvPr/>
        </p:nvSpPr>
        <p:spPr>
          <a:xfrm>
            <a:off x="6902675" y="1305275"/>
            <a:ext cx="4680300" cy="2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Maximum value :</a:t>
            </a:r>
            <a:r>
              <a:rPr b="0" i="0" lang="it-IT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13.35cm </a:t>
            </a:r>
            <a:endParaRPr b="0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value:</a:t>
            </a:r>
            <a:r>
              <a:rPr b="0" i="0" lang="it-IT" sz="24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12.3cm </a:t>
            </a: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(average from (1) ) 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ea775fbc22_0_26"/>
          <p:cNvSpPr txBox="1"/>
          <p:nvPr/>
        </p:nvSpPr>
        <p:spPr>
          <a:xfrm>
            <a:off x="92964" y="6469236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(1)</a:t>
            </a:r>
            <a:r>
              <a:rPr i="1"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last citation slide 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586" y="1522111"/>
            <a:ext cx="6986161" cy="400579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1"/>
          <p:cNvSpPr txBox="1"/>
          <p:nvPr>
            <p:ph type="title"/>
          </p:nvPr>
        </p:nvSpPr>
        <p:spPr>
          <a:xfrm>
            <a:off x="627184" y="56878"/>
            <a:ext cx="10515600" cy="788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MultiTissue block</a:t>
            </a:r>
            <a:endParaRPr/>
          </a:p>
        </p:txBody>
      </p:sp>
      <p:sp>
        <p:nvSpPr>
          <p:cNvPr id="367" name="Google Shape;367;p21"/>
          <p:cNvSpPr txBox="1"/>
          <p:nvPr>
            <p:ph idx="2" type="body"/>
          </p:nvPr>
        </p:nvSpPr>
        <p:spPr>
          <a:xfrm>
            <a:off x="627185" y="703774"/>
            <a:ext cx="4028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Thicker models</a:t>
            </a:r>
            <a:endParaRPr/>
          </a:p>
        </p:txBody>
      </p:sp>
      <p:sp>
        <p:nvSpPr>
          <p:cNvPr id="368" name="Google Shape;368;p21"/>
          <p:cNvSpPr txBox="1"/>
          <p:nvPr/>
        </p:nvSpPr>
        <p:spPr>
          <a:xfrm>
            <a:off x="3058478" y="971437"/>
            <a:ext cx="107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Coupling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6441673" y="4522580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F67B7B"/>
                </a:solidFill>
                <a:latin typeface="Calibri"/>
                <a:ea typeface="Calibri"/>
                <a:cs typeface="Calibri"/>
                <a:sym typeface="Calibri"/>
              </a:rPr>
              <a:t>Skin</a:t>
            </a:r>
            <a:endParaRPr b="0" i="0" sz="1800" u="none" cap="none" strike="noStrike">
              <a:solidFill>
                <a:srgbClr val="F6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1487531" y="5452483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FF00AA"/>
                </a:solidFill>
                <a:latin typeface="Calibri"/>
                <a:ea typeface="Calibri"/>
                <a:cs typeface="Calibri"/>
                <a:sym typeface="Calibri"/>
              </a:rPr>
              <a:t>Fat</a:t>
            </a:r>
            <a:endParaRPr b="0" i="0" sz="1800" u="none" cap="none" strike="noStrike">
              <a:solidFill>
                <a:srgbClr val="FF00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5929985" y="5414888"/>
            <a:ext cx="9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C17374"/>
                </a:solidFill>
                <a:latin typeface="Calibri"/>
                <a:ea typeface="Calibri"/>
                <a:cs typeface="Calibri"/>
                <a:sym typeface="Calibri"/>
              </a:rPr>
              <a:t>Muscle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1962532" y="5836394"/>
            <a:ext cx="9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4412317" y="5853518"/>
            <a:ext cx="9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06C2BE"/>
                </a:solidFill>
                <a:latin typeface="Calibri"/>
                <a:ea typeface="Calibri"/>
                <a:cs typeface="Calibri"/>
                <a:sym typeface="Calibri"/>
              </a:rPr>
              <a:t>CSF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2705906" y="5825420"/>
            <a:ext cx="126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rgbClr val="A5A4F7"/>
                </a:solidFill>
                <a:latin typeface="Calibri"/>
                <a:ea typeface="Calibri"/>
                <a:cs typeface="Calibri"/>
                <a:sym typeface="Calibri"/>
              </a:rPr>
              <a:t>Spinal Cord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p21"/>
          <p:cNvCxnSpPr/>
          <p:nvPr/>
        </p:nvCxnSpPr>
        <p:spPr>
          <a:xfrm>
            <a:off x="3767666" y="1560502"/>
            <a:ext cx="1912800" cy="16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376" name="Google Shape;376;p21"/>
          <p:cNvCxnSpPr/>
          <p:nvPr/>
        </p:nvCxnSpPr>
        <p:spPr>
          <a:xfrm flipH="1">
            <a:off x="2026241" y="1608084"/>
            <a:ext cx="1123200" cy="186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377" name="Google Shape;377;p21"/>
          <p:cNvCxnSpPr>
            <a:stCxn id="369" idx="1"/>
          </p:cNvCxnSpPr>
          <p:nvPr/>
        </p:nvCxnSpPr>
        <p:spPr>
          <a:xfrm rot="10800000">
            <a:off x="5622673" y="4219730"/>
            <a:ext cx="819000" cy="48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378" name="Google Shape;378;p21"/>
          <p:cNvCxnSpPr/>
          <p:nvPr/>
        </p:nvCxnSpPr>
        <p:spPr>
          <a:xfrm rot="10800000">
            <a:off x="5486542" y="4881410"/>
            <a:ext cx="761700" cy="56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379" name="Google Shape;379;p21"/>
          <p:cNvCxnSpPr/>
          <p:nvPr/>
        </p:nvCxnSpPr>
        <p:spPr>
          <a:xfrm flipH="1" rot="10800000">
            <a:off x="3491131" y="5113520"/>
            <a:ext cx="294600" cy="71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380" name="Google Shape;380;p21"/>
          <p:cNvCxnSpPr/>
          <p:nvPr/>
        </p:nvCxnSpPr>
        <p:spPr>
          <a:xfrm rot="10800000">
            <a:off x="4193488" y="4994159"/>
            <a:ext cx="437700" cy="86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381" name="Google Shape;381;p21"/>
          <p:cNvCxnSpPr/>
          <p:nvPr/>
        </p:nvCxnSpPr>
        <p:spPr>
          <a:xfrm flipH="1" rot="10800000">
            <a:off x="2282035" y="4682357"/>
            <a:ext cx="1044000" cy="119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382" name="Google Shape;382;p21"/>
          <p:cNvCxnSpPr/>
          <p:nvPr/>
        </p:nvCxnSpPr>
        <p:spPr>
          <a:xfrm flipH="1" rot="10800000">
            <a:off x="1952292" y="4499754"/>
            <a:ext cx="886800" cy="109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med" w="med" type="triangle"/>
          </a:ln>
        </p:spPr>
      </p:cxnSp>
      <p:graphicFrame>
        <p:nvGraphicFramePr>
          <p:cNvPr id="383" name="Google Shape;383;p21"/>
          <p:cNvGraphicFramePr/>
          <p:nvPr/>
        </p:nvGraphicFramePr>
        <p:xfrm>
          <a:off x="7524293" y="1473008"/>
          <a:ext cx="3000000" cy="3000000"/>
        </p:xfrm>
        <a:graphic>
          <a:graphicData uri="http://schemas.openxmlformats.org/drawingml/2006/table">
            <a:tbl>
              <a:tblPr bandRow="1" firstRow="1" lastCol="1">
                <a:noFill/>
                <a:tableStyleId>{5CECF05F-0653-4E2F-8EAF-958BB876DDA2}</a:tableStyleId>
              </a:tblPr>
              <a:tblGrid>
                <a:gridCol w="1335925"/>
                <a:gridCol w="1820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THICKNESS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Fat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0.67 -&gt; 0.77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Muscle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3.0 -&gt; 3.45 cm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84" name="Google Shape;384;p21"/>
          <p:cNvGraphicFramePr/>
          <p:nvPr/>
        </p:nvGraphicFramePr>
        <p:xfrm>
          <a:off x="10680291" y="14730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{5CECF05F-0653-4E2F-8EAF-958BB876DDA2}</a:tableStyleId>
              </a:tblPr>
              <a:tblGrid>
                <a:gridCol w="1349650"/>
              </a:tblGrid>
              <a:tr h="36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b="1" lang="it-IT" sz="1800" u="none" cap="none" strike="noStrike"/>
                        <a:t> λ</a:t>
                      </a:r>
                      <a:endParaRPr b="1" sz="18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</a:tr>
              <a:tr h="37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0.025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0.11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85" name="Google Shape;385;p21"/>
          <p:cNvSpPr/>
          <p:nvPr/>
        </p:nvSpPr>
        <p:spPr>
          <a:xfrm>
            <a:off x="5873915" y="1823544"/>
            <a:ext cx="493200" cy="3507300"/>
          </a:xfrm>
          <a:prstGeom prst="rightBrace">
            <a:avLst>
              <a:gd fmla="val 41600" name="adj1"/>
              <a:gd fmla="val 4714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0" y="6479643"/>
            <a:ext cx="58189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Lambda computed at 1GHz considering μr = 1 and ɛrair = 1  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aphicFrame>
        <p:nvGraphicFramePr>
          <p:cNvPr id="388" name="Google Shape;388;p21"/>
          <p:cNvGraphicFramePr/>
          <p:nvPr/>
        </p:nvGraphicFramePr>
        <p:xfrm>
          <a:off x="7546243" y="3240953"/>
          <a:ext cx="3000000" cy="3000000"/>
        </p:xfrm>
        <a:graphic>
          <a:graphicData uri="http://schemas.openxmlformats.org/drawingml/2006/table">
            <a:tbl>
              <a:tblPr bandRow="1" firstRow="1" lastCol="1">
                <a:noFill/>
                <a:tableStyleId>{5CECF05F-0653-4E2F-8EAF-958BB876DDA2}</a:tableStyleId>
              </a:tblPr>
              <a:tblGrid>
                <a:gridCol w="1335925"/>
                <a:gridCol w="1820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THICKNESS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Fat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0.67 -&gt; 1.005cm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Muscle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3.0 -&gt; 4.5 cm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89" name="Google Shape;389;p21"/>
          <p:cNvGraphicFramePr/>
          <p:nvPr/>
        </p:nvGraphicFramePr>
        <p:xfrm>
          <a:off x="10702241" y="32409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{5CECF05F-0653-4E2F-8EAF-958BB876DDA2}</a:tableStyleId>
              </a:tblPr>
              <a:tblGrid>
                <a:gridCol w="1349650"/>
              </a:tblGrid>
              <a:tr h="36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b="1" lang="it-IT" sz="1800" u="none" cap="none" strike="noStrike"/>
                        <a:t> λ</a:t>
                      </a:r>
                      <a:endParaRPr b="1" sz="18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</a:tr>
              <a:tr h="37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0.033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0.15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90" name="Google Shape;390;p21"/>
          <p:cNvSpPr txBox="1"/>
          <p:nvPr>
            <p:ph idx="2" type="body"/>
          </p:nvPr>
        </p:nvSpPr>
        <p:spPr>
          <a:xfrm>
            <a:off x="7546259" y="947838"/>
            <a:ext cx="4028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Fat &amp; Muscle * 1.15</a:t>
            </a:r>
            <a:endParaRPr/>
          </a:p>
        </p:txBody>
      </p:sp>
      <p:sp>
        <p:nvSpPr>
          <p:cNvPr id="391" name="Google Shape;391;p21"/>
          <p:cNvSpPr txBox="1"/>
          <p:nvPr>
            <p:ph idx="2" type="body"/>
          </p:nvPr>
        </p:nvSpPr>
        <p:spPr>
          <a:xfrm>
            <a:off x="7546259" y="2764450"/>
            <a:ext cx="4028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Fat &amp; Muscle * 1.5</a:t>
            </a:r>
            <a:endParaRPr/>
          </a:p>
        </p:txBody>
      </p:sp>
      <p:graphicFrame>
        <p:nvGraphicFramePr>
          <p:cNvPr id="392" name="Google Shape;392;p21"/>
          <p:cNvGraphicFramePr/>
          <p:nvPr/>
        </p:nvGraphicFramePr>
        <p:xfrm>
          <a:off x="7628093" y="5008909"/>
          <a:ext cx="3000000" cy="3000000"/>
        </p:xfrm>
        <a:graphic>
          <a:graphicData uri="http://schemas.openxmlformats.org/drawingml/2006/table">
            <a:tbl>
              <a:tblPr bandRow="1" firstRow="1" lastCol="1">
                <a:noFill/>
                <a:tableStyleId>{5CECF05F-0653-4E2F-8EAF-958BB876DDA2}</a:tableStyleId>
              </a:tblPr>
              <a:tblGrid>
                <a:gridCol w="1312400"/>
                <a:gridCol w="1843600"/>
              </a:tblGrid>
              <a:tr h="77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THICKNESS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Fat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0.67 -&gt; 1.34cm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Muscle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3.0 -&gt; 6.0 cm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93" name="Google Shape;393;p21"/>
          <p:cNvGraphicFramePr/>
          <p:nvPr/>
        </p:nvGraphicFramePr>
        <p:xfrm>
          <a:off x="10784091" y="50089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{5CECF05F-0653-4E2F-8EAF-958BB876DDA2}</a:tableStyleId>
              </a:tblPr>
              <a:tblGrid>
                <a:gridCol w="1349650"/>
              </a:tblGrid>
              <a:tr h="36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it-IT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b="1" lang="it-IT" sz="1800" u="none" cap="none" strike="noStrike"/>
                        <a:t> λ</a:t>
                      </a:r>
                      <a:endParaRPr b="1" sz="1800" u="none" cap="none" strike="noStrike"/>
                    </a:p>
                  </a:txBody>
                  <a:tcPr marT="45725" marB="45725" marR="91450" marL="91450">
                    <a:solidFill>
                      <a:srgbClr val="C9C9C9"/>
                    </a:solidFill>
                  </a:tcPr>
                </a:tc>
              </a:tr>
              <a:tr h="37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0.045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-IT" sz="1800" u="none" cap="none" strike="noStrike"/>
                        <a:t>0.2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94" name="Google Shape;394;p21"/>
          <p:cNvSpPr txBox="1"/>
          <p:nvPr>
            <p:ph idx="2" type="body"/>
          </p:nvPr>
        </p:nvSpPr>
        <p:spPr>
          <a:xfrm>
            <a:off x="7546259" y="4530012"/>
            <a:ext cx="4028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Fat &amp; Muscle * 2.0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22" title="S11_obes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75" y="816275"/>
            <a:ext cx="10425344" cy="5686551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2"/>
          <p:cNvSpPr txBox="1"/>
          <p:nvPr>
            <p:ph type="title"/>
          </p:nvPr>
        </p:nvSpPr>
        <p:spPr>
          <a:xfrm>
            <a:off x="435864" y="119254"/>
            <a:ext cx="10515600" cy="788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401" name="Google Shape;401;p22"/>
          <p:cNvSpPr txBox="1"/>
          <p:nvPr>
            <p:ph idx="2" type="body"/>
          </p:nvPr>
        </p:nvSpPr>
        <p:spPr>
          <a:xfrm>
            <a:off x="3786930" y="295483"/>
            <a:ext cx="580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Thicker necks</a:t>
            </a:r>
            <a:endParaRPr/>
          </a:p>
        </p:txBody>
      </p:sp>
      <p:sp>
        <p:nvSpPr>
          <p:cNvPr id="402" name="Google Shape;402;p22"/>
          <p:cNvSpPr txBox="1"/>
          <p:nvPr>
            <p:ph idx="12" type="sldNum"/>
          </p:nvPr>
        </p:nvSpPr>
        <p:spPr>
          <a:xfrm>
            <a:off x="9308692" y="64251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03" name="Google Shape;403;p22"/>
          <p:cNvSpPr txBox="1"/>
          <p:nvPr/>
        </p:nvSpPr>
        <p:spPr>
          <a:xfrm>
            <a:off x="92964" y="6469236"/>
            <a:ext cx="8915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(1) S(1,1) comparision of the first thicker model (*1.5), the second one (*2.0) and realistic obese model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3"/>
          <p:cNvSpPr txBox="1"/>
          <p:nvPr>
            <p:ph type="title"/>
          </p:nvPr>
        </p:nvSpPr>
        <p:spPr>
          <a:xfrm>
            <a:off x="435864" y="119254"/>
            <a:ext cx="10515600" cy="788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409" name="Google Shape;409;p23"/>
          <p:cNvSpPr txBox="1"/>
          <p:nvPr>
            <p:ph idx="12" type="sldNum"/>
          </p:nvPr>
        </p:nvSpPr>
        <p:spPr>
          <a:xfrm>
            <a:off x="9308692" y="64251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410" name="Google Shape;410;p23" title="S21_thicker_neck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16273"/>
            <a:ext cx="10782651" cy="5881453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3"/>
          <p:cNvSpPr txBox="1"/>
          <p:nvPr/>
        </p:nvSpPr>
        <p:spPr>
          <a:xfrm>
            <a:off x="92964" y="6469236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(1) S(2,1) comparision of the first thicker model (*1.5), the second one (*2.0) and realistic obese model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 txBox="1"/>
          <p:nvPr>
            <p:ph idx="2" type="body"/>
          </p:nvPr>
        </p:nvSpPr>
        <p:spPr>
          <a:xfrm>
            <a:off x="3786930" y="295483"/>
            <a:ext cx="580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Thicker necks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24" title="efield_dB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2575" y="504100"/>
            <a:ext cx="8643500" cy="62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4"/>
          <p:cNvSpPr txBox="1"/>
          <p:nvPr>
            <p:ph type="title"/>
          </p:nvPr>
        </p:nvSpPr>
        <p:spPr>
          <a:xfrm>
            <a:off x="435864" y="119254"/>
            <a:ext cx="10515600" cy="788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419" name="Google Shape;419;p24"/>
          <p:cNvSpPr txBox="1"/>
          <p:nvPr>
            <p:ph idx="2" type="body"/>
          </p:nvPr>
        </p:nvSpPr>
        <p:spPr>
          <a:xfrm>
            <a:off x="3996402" y="311775"/>
            <a:ext cx="5942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Electric Field (dB) realistic obese</a:t>
            </a:r>
            <a:endParaRPr/>
          </a:p>
        </p:txBody>
      </p:sp>
      <p:sp>
        <p:nvSpPr>
          <p:cNvPr id="420" name="Google Shape;420;p24"/>
          <p:cNvSpPr txBox="1"/>
          <p:nvPr/>
        </p:nvSpPr>
        <p:spPr>
          <a:xfrm>
            <a:off x="112812" y="6513300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Electric Field in dB for the realistic obese model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 txBox="1"/>
          <p:nvPr>
            <p:ph idx="12" type="sldNum"/>
          </p:nvPr>
        </p:nvSpPr>
        <p:spPr>
          <a:xfrm>
            <a:off x="9308692" y="64251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25" title="efield_linear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950" y="577550"/>
            <a:ext cx="8725849" cy="6346076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5"/>
          <p:cNvSpPr txBox="1"/>
          <p:nvPr>
            <p:ph type="title"/>
          </p:nvPr>
        </p:nvSpPr>
        <p:spPr>
          <a:xfrm>
            <a:off x="435864" y="119254"/>
            <a:ext cx="10515600" cy="788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428" name="Google Shape;428;p25"/>
          <p:cNvSpPr txBox="1"/>
          <p:nvPr>
            <p:ph idx="12" type="sldNum"/>
          </p:nvPr>
        </p:nvSpPr>
        <p:spPr>
          <a:xfrm>
            <a:off x="9308692" y="64251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29" name="Google Shape;429;p25"/>
          <p:cNvSpPr txBox="1"/>
          <p:nvPr>
            <p:ph idx="2" type="body"/>
          </p:nvPr>
        </p:nvSpPr>
        <p:spPr>
          <a:xfrm>
            <a:off x="4115452" y="335338"/>
            <a:ext cx="5942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400"/>
              <a:buNone/>
            </a:pPr>
            <a:r>
              <a:rPr lang="it-IT"/>
              <a:t>Electric Field (linear) realistic obese</a:t>
            </a:r>
            <a:endParaRPr/>
          </a:p>
        </p:txBody>
      </p:sp>
      <p:sp>
        <p:nvSpPr>
          <p:cNvPr id="430" name="Google Shape;430;p25"/>
          <p:cNvSpPr txBox="1"/>
          <p:nvPr/>
        </p:nvSpPr>
        <p:spPr>
          <a:xfrm>
            <a:off x="112812" y="6513300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Electric Field in linear units  for the realistic obese model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26" title="efield_norm_dB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87" y="473762"/>
            <a:ext cx="8778314" cy="638422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6"/>
          <p:cNvSpPr txBox="1"/>
          <p:nvPr>
            <p:ph type="title"/>
          </p:nvPr>
        </p:nvSpPr>
        <p:spPr>
          <a:xfrm>
            <a:off x="435864" y="119254"/>
            <a:ext cx="10515600" cy="788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437" name="Google Shape;437;p26"/>
          <p:cNvSpPr txBox="1"/>
          <p:nvPr>
            <p:ph idx="12" type="sldNum"/>
          </p:nvPr>
        </p:nvSpPr>
        <p:spPr>
          <a:xfrm>
            <a:off x="9308692" y="64251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38" name="Google Shape;438;p26"/>
          <p:cNvSpPr txBox="1"/>
          <p:nvPr>
            <p:ph idx="2" type="body"/>
          </p:nvPr>
        </p:nvSpPr>
        <p:spPr>
          <a:xfrm>
            <a:off x="4021602" y="252863"/>
            <a:ext cx="5942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ct val="100000"/>
              <a:buNone/>
            </a:pPr>
            <a:r>
              <a:rPr lang="it-IT"/>
              <a:t>Normalised Electric Field (dB) realistic obese</a:t>
            </a:r>
            <a:endParaRPr/>
          </a:p>
        </p:txBody>
      </p:sp>
      <p:sp>
        <p:nvSpPr>
          <p:cNvPr id="439" name="Google Shape;439;p26"/>
          <p:cNvSpPr txBox="1"/>
          <p:nvPr/>
        </p:nvSpPr>
        <p:spPr>
          <a:xfrm>
            <a:off x="112812" y="6513300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Normalised Electric Field in dB for the realistic obese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27" title="efield_norm_linear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1825" y="683600"/>
            <a:ext cx="8396600" cy="61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7"/>
          <p:cNvSpPr txBox="1"/>
          <p:nvPr>
            <p:ph type="title"/>
          </p:nvPr>
        </p:nvSpPr>
        <p:spPr>
          <a:xfrm>
            <a:off x="435864" y="119254"/>
            <a:ext cx="10515600" cy="788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B49"/>
              </a:buClr>
              <a:buSzPts val="4400"/>
              <a:buFont typeface="Nunito ExtraBold"/>
              <a:buNone/>
            </a:pPr>
            <a:r>
              <a:rPr lang="it-IT"/>
              <a:t>Simulations</a:t>
            </a:r>
            <a:endParaRPr/>
          </a:p>
        </p:txBody>
      </p:sp>
      <p:sp>
        <p:nvSpPr>
          <p:cNvPr id="446" name="Google Shape;446;p27"/>
          <p:cNvSpPr txBox="1"/>
          <p:nvPr>
            <p:ph idx="12" type="sldNum"/>
          </p:nvPr>
        </p:nvSpPr>
        <p:spPr>
          <a:xfrm>
            <a:off x="9308692" y="642517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47" name="Google Shape;447;p27"/>
          <p:cNvSpPr txBox="1"/>
          <p:nvPr>
            <p:ph idx="2" type="body"/>
          </p:nvPr>
        </p:nvSpPr>
        <p:spPr>
          <a:xfrm>
            <a:off x="4103927" y="252850"/>
            <a:ext cx="5942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ct val="100000"/>
              <a:buNone/>
            </a:pPr>
            <a:r>
              <a:rPr lang="it-IT"/>
              <a:t>Nomalised Electric Field (linear) realistic obese</a:t>
            </a:r>
            <a:endParaRPr/>
          </a:p>
        </p:txBody>
      </p:sp>
      <p:sp>
        <p:nvSpPr>
          <p:cNvPr id="448" name="Google Shape;448;p27"/>
          <p:cNvSpPr txBox="1"/>
          <p:nvPr/>
        </p:nvSpPr>
        <p:spPr>
          <a:xfrm>
            <a:off x="112812" y="6513300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Normalised Electric Field in linear units for the realistic obese model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g3f355c7bad8_0_0" title="MUT.png"/>
          <p:cNvPicPr preferRelativeResize="0"/>
          <p:nvPr/>
        </p:nvPicPr>
        <p:blipFill rotWithShape="1">
          <a:blip r:embed="rId3">
            <a:alphaModFix/>
          </a:blip>
          <a:srcRect b="0" l="1900" r="-1900" t="0"/>
          <a:stretch/>
        </p:blipFill>
        <p:spPr>
          <a:xfrm>
            <a:off x="-805450" y="1468475"/>
            <a:ext cx="8716450" cy="413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f355c7bad8_0_0" title="test1NJ.png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0475" y="134650"/>
            <a:ext cx="4941523" cy="6588698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g3f355c7bad8_0_0"/>
          <p:cNvSpPr txBox="1"/>
          <p:nvPr>
            <p:ph idx="12" type="sldNum"/>
          </p:nvPr>
        </p:nvSpPr>
        <p:spPr>
          <a:xfrm>
            <a:off x="9308692" y="6050024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57" name="Google Shape;457;g3f355c7bad8_0_0"/>
          <p:cNvSpPr txBox="1"/>
          <p:nvPr>
            <p:ph type="title"/>
          </p:nvPr>
        </p:nvSpPr>
        <p:spPr>
          <a:xfrm>
            <a:off x="838200" y="365126"/>
            <a:ext cx="10515600" cy="788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Experiments</a:t>
            </a:r>
            <a:endParaRPr/>
          </a:p>
        </p:txBody>
      </p:sp>
      <p:sp>
        <p:nvSpPr>
          <p:cNvPr id="458" name="Google Shape;458;g3f355c7bad8_0_0"/>
          <p:cNvSpPr txBox="1"/>
          <p:nvPr>
            <p:ph idx="2" type="body"/>
          </p:nvPr>
        </p:nvSpPr>
        <p:spPr>
          <a:xfrm>
            <a:off x="886717" y="1045680"/>
            <a:ext cx="4028700" cy="52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Average Neck </a:t>
            </a:r>
            <a:endParaRPr/>
          </a:p>
        </p:txBody>
      </p:sp>
      <p:sp>
        <p:nvSpPr>
          <p:cNvPr id="459" name="Google Shape;459;g3f355c7bad8_0_0"/>
          <p:cNvSpPr txBox="1"/>
          <p:nvPr/>
        </p:nvSpPr>
        <p:spPr>
          <a:xfrm>
            <a:off x="92964" y="6469236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(1) </a:t>
            </a:r>
            <a:r>
              <a:rPr i="1"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Epsilon r and sigma of the liquid mimicking the average neck’s dielectric properties (2) bench setup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f355c7bad8_0_0"/>
          <p:cNvSpPr txBox="1"/>
          <p:nvPr/>
        </p:nvSpPr>
        <p:spPr>
          <a:xfrm>
            <a:off x="133200" y="1468475"/>
            <a:ext cx="705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f355c7bad8_0_0"/>
          <p:cNvSpPr txBox="1"/>
          <p:nvPr/>
        </p:nvSpPr>
        <p:spPr>
          <a:xfrm>
            <a:off x="7250475" y="185900"/>
            <a:ext cx="705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51f069ab0_0_0"/>
          <p:cNvSpPr txBox="1"/>
          <p:nvPr>
            <p:ph idx="12" type="sldNum"/>
          </p:nvPr>
        </p:nvSpPr>
        <p:spPr>
          <a:xfrm>
            <a:off x="9308692" y="6050024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68" name="Google Shape;468;g3f51f069ab0_0_0"/>
          <p:cNvSpPr txBox="1"/>
          <p:nvPr>
            <p:ph type="title"/>
          </p:nvPr>
        </p:nvSpPr>
        <p:spPr>
          <a:xfrm>
            <a:off x="92975" y="54801"/>
            <a:ext cx="10515600" cy="788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Experiments</a:t>
            </a:r>
            <a:endParaRPr/>
          </a:p>
        </p:txBody>
      </p:sp>
      <p:sp>
        <p:nvSpPr>
          <p:cNvPr id="469" name="Google Shape;469;g3f51f069ab0_0_0"/>
          <p:cNvSpPr txBox="1"/>
          <p:nvPr>
            <p:ph idx="2" type="body"/>
          </p:nvPr>
        </p:nvSpPr>
        <p:spPr>
          <a:xfrm>
            <a:off x="3750642" y="242880"/>
            <a:ext cx="4028700" cy="52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Neck Phantom </a:t>
            </a:r>
            <a:endParaRPr/>
          </a:p>
        </p:txBody>
      </p:sp>
      <p:pic>
        <p:nvPicPr>
          <p:cNvPr id="470" name="Google Shape;470;g3f51f069ab0_0_0" title="NeckPhantom_noMM_combin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6262" y="1178350"/>
            <a:ext cx="12404526" cy="4651699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g3f51f069ab0_0_0"/>
          <p:cNvSpPr txBox="1"/>
          <p:nvPr/>
        </p:nvSpPr>
        <p:spPr>
          <a:xfrm>
            <a:off x="112812" y="6513300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</a:t>
            </a:r>
            <a:r>
              <a:rPr i="1"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Reflection and transmission parameters for the experiment on the Neck Phantom, without a coupling medium layer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51f40f1bb_0_2"/>
          <p:cNvSpPr txBox="1"/>
          <p:nvPr>
            <p:ph idx="12" type="sldNum"/>
          </p:nvPr>
        </p:nvSpPr>
        <p:spPr>
          <a:xfrm>
            <a:off x="9308692" y="6050024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478" name="Google Shape;478;g3f51f40f1bb_0_2" title="NeckPhantom_graphite_combined_with_si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862451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g3f51f40f1bb_0_2"/>
          <p:cNvSpPr txBox="1"/>
          <p:nvPr/>
        </p:nvSpPr>
        <p:spPr>
          <a:xfrm>
            <a:off x="10027750" y="3013500"/>
            <a:ext cx="1963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</a:t>
            </a:r>
            <a:r>
              <a:rPr i="1"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Reflection and transmission parameters for the experiment on the Neck Phantom with a coupling medium layer made of either 5 or 20 % graphite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51f40f1bb_0_11"/>
          <p:cNvSpPr txBox="1"/>
          <p:nvPr>
            <p:ph idx="12" type="sldNum"/>
          </p:nvPr>
        </p:nvSpPr>
        <p:spPr>
          <a:xfrm>
            <a:off x="9308692" y="6050024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86" name="Google Shape;486;g3f51f40f1bb_0_11"/>
          <p:cNvSpPr txBox="1"/>
          <p:nvPr>
            <p:ph type="title"/>
          </p:nvPr>
        </p:nvSpPr>
        <p:spPr>
          <a:xfrm>
            <a:off x="92975" y="54801"/>
            <a:ext cx="10515600" cy="788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Experiments</a:t>
            </a:r>
            <a:endParaRPr/>
          </a:p>
        </p:txBody>
      </p:sp>
      <p:sp>
        <p:nvSpPr>
          <p:cNvPr id="487" name="Google Shape;487;g3f51f40f1bb_0_11"/>
          <p:cNvSpPr txBox="1"/>
          <p:nvPr>
            <p:ph idx="2" type="body"/>
          </p:nvPr>
        </p:nvSpPr>
        <p:spPr>
          <a:xfrm>
            <a:off x="3750642" y="188455"/>
            <a:ext cx="4028700" cy="52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Head Phantom </a:t>
            </a:r>
            <a:endParaRPr/>
          </a:p>
        </p:txBody>
      </p:sp>
      <p:pic>
        <p:nvPicPr>
          <p:cNvPr id="488" name="Google Shape;488;g3f51f40f1bb_0_11" title="headPhantom_noMM_combin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0800"/>
            <a:ext cx="12148449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g3f51f40f1bb_0_11"/>
          <p:cNvSpPr txBox="1"/>
          <p:nvPr/>
        </p:nvSpPr>
        <p:spPr>
          <a:xfrm>
            <a:off x="112812" y="6513300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</a:t>
            </a:r>
            <a:r>
              <a:rPr i="1"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Reflection and transmission parameters for the experiment on the Head Phantom, without a coupling medium layer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51f40f1bb_0_28"/>
          <p:cNvSpPr txBox="1"/>
          <p:nvPr>
            <p:ph idx="12" type="sldNum"/>
          </p:nvPr>
        </p:nvSpPr>
        <p:spPr>
          <a:xfrm>
            <a:off x="9308692" y="6050024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496" name="Google Shape;496;g3f51f40f1bb_0_28" title="headPhantom_graphite_combin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873352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f51f40f1bb_0_28"/>
          <p:cNvSpPr txBox="1"/>
          <p:nvPr/>
        </p:nvSpPr>
        <p:spPr>
          <a:xfrm>
            <a:off x="10027750" y="3013500"/>
            <a:ext cx="1963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</a:t>
            </a:r>
            <a:r>
              <a:rPr i="1"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Reflection and transmission parameters for the experiment on the Head Phantom with a coupling medium layer made of either 5 or 20 % graphite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51f40f1bb_0_37"/>
          <p:cNvSpPr txBox="1"/>
          <p:nvPr>
            <p:ph idx="12" type="sldNum"/>
          </p:nvPr>
        </p:nvSpPr>
        <p:spPr>
          <a:xfrm>
            <a:off x="9308692" y="6050024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04" name="Google Shape;504;g3f51f40f1bb_0_37"/>
          <p:cNvSpPr txBox="1"/>
          <p:nvPr>
            <p:ph type="title"/>
          </p:nvPr>
        </p:nvSpPr>
        <p:spPr>
          <a:xfrm>
            <a:off x="92975" y="54801"/>
            <a:ext cx="10515600" cy="788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Experiments</a:t>
            </a:r>
            <a:endParaRPr/>
          </a:p>
        </p:txBody>
      </p:sp>
      <p:sp>
        <p:nvSpPr>
          <p:cNvPr id="505" name="Google Shape;505;g3f51f40f1bb_0_37"/>
          <p:cNvSpPr txBox="1"/>
          <p:nvPr>
            <p:ph idx="2" type="body"/>
          </p:nvPr>
        </p:nvSpPr>
        <p:spPr>
          <a:xfrm>
            <a:off x="3762442" y="270930"/>
            <a:ext cx="4028700" cy="52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Real Neck </a:t>
            </a:r>
            <a:endParaRPr/>
          </a:p>
        </p:txBody>
      </p:sp>
      <p:pic>
        <p:nvPicPr>
          <p:cNvPr id="506" name="Google Shape;506;g3f51f40f1bb_0_37" title="myNeck_noMM_combin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95300"/>
            <a:ext cx="1219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g3f51f40f1bb_0_37"/>
          <p:cNvSpPr txBox="1"/>
          <p:nvPr/>
        </p:nvSpPr>
        <p:spPr>
          <a:xfrm>
            <a:off x="112812" y="6513300"/>
            <a:ext cx="891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</a:t>
            </a:r>
            <a:r>
              <a:rPr i="1"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Reflection and transmission parameters for the experiment on the human neck, without a coupling medium layer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f51f40f1bb_0_46"/>
          <p:cNvSpPr txBox="1"/>
          <p:nvPr>
            <p:ph idx="12" type="sldNum"/>
          </p:nvPr>
        </p:nvSpPr>
        <p:spPr>
          <a:xfrm>
            <a:off x="9308692" y="6050024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14" name="Google Shape;514;g3f51f40f1bb_0_46" title="myNeck_graphite_combined_with_si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862451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g3f51f40f1bb_0_46"/>
          <p:cNvSpPr txBox="1"/>
          <p:nvPr/>
        </p:nvSpPr>
        <p:spPr>
          <a:xfrm>
            <a:off x="10027750" y="3013500"/>
            <a:ext cx="1963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</a:t>
            </a:r>
            <a:r>
              <a:rPr i="1"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Reflection and transmission parameters for the experiment on the human head with a coupling medium layer made of either 5 or 20 % graphite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51f40f1bb_0_64"/>
          <p:cNvSpPr txBox="1"/>
          <p:nvPr>
            <p:ph idx="12" type="sldNum"/>
          </p:nvPr>
        </p:nvSpPr>
        <p:spPr>
          <a:xfrm>
            <a:off x="9308692" y="6050024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22" name="Google Shape;522;g3f51f40f1bb_0_64" title="experiments_2_graphite_combined_with_si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862451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f51f40f1bb_0_64"/>
          <p:cNvSpPr txBox="1"/>
          <p:nvPr/>
        </p:nvSpPr>
        <p:spPr>
          <a:xfrm>
            <a:off x="10027750" y="3013500"/>
            <a:ext cx="1963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</a:t>
            </a:r>
            <a:r>
              <a:rPr i="1"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Reflection and transmission parameters for the experiment on the human head with a coupling medium layer made of either 5 or 20 % graphite, 2nd batch of measurments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ea775fbc22_0_50"/>
          <p:cNvSpPr txBox="1"/>
          <p:nvPr>
            <p:ph idx="12" type="sldNum"/>
          </p:nvPr>
        </p:nvSpPr>
        <p:spPr>
          <a:xfrm>
            <a:off x="9308692" y="642517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30" name="Google Shape;530;g3ea775fbc22_0_50"/>
          <p:cNvSpPr txBox="1"/>
          <p:nvPr>
            <p:ph idx="1" type="body"/>
          </p:nvPr>
        </p:nvSpPr>
        <p:spPr>
          <a:xfrm>
            <a:off x="838200" y="1654050"/>
            <a:ext cx="10991700" cy="4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27"/>
              <a:buNone/>
            </a:pPr>
            <a:r>
              <a:rPr lang="it-IT" sz="2400"/>
              <a:t>Slide 19: 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27"/>
              <a:buNone/>
            </a:pPr>
            <a:r>
              <a:rPr lang="it-IT" sz="1600"/>
              <a:t>(1)</a:t>
            </a:r>
            <a:r>
              <a:rPr lang="it-IT" sz="1800"/>
              <a:t> </a:t>
            </a:r>
            <a:r>
              <a:rPr lang="it-IT" sz="1600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Joshipura K, Muñoz-Torres F, Vergara J, Palacios C, Pérez CM. Neck Circumference May Be a Better Alternative to Standard Anthropometric Measures. J Diabetes Res. 2016;2016:6058916. doi: 10.1155/2016/6058916. Epub 2016 Feb 11. PMID: 26981543; PMCID: PMC4766356.</a:t>
            </a:r>
            <a:endParaRPr sz="1600">
              <a:solidFill>
                <a:srgbClr val="1B1B1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27"/>
              <a:buNone/>
            </a:pPr>
            <a:r>
              <a:rPr lang="it-IT" sz="1600">
                <a:solidFill>
                  <a:srgbClr val="1B1B1B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(2) </a:t>
            </a:r>
            <a:r>
              <a:rPr lang="it-IT" sz="1600">
                <a:latin typeface="Arial"/>
                <a:ea typeface="Arial"/>
                <a:cs typeface="Arial"/>
                <a:sym typeface="Arial"/>
              </a:rPr>
              <a:t>Hingorjo MR, Qureshi MA, Mehdi A. Neck circumference as a useful marker of obesity: a        comparison with body mass index and waist circumference. JPMA. The Journal of the Pakistan Medical Association. 2012 Jan;62(1):36-40. PMID: 22352099.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27"/>
              <a:buNone/>
            </a:pPr>
            <a:r>
              <a:rPr lang="it-IT" sz="2400"/>
              <a:t>Slide 9: 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27"/>
              <a:buNone/>
            </a:pPr>
            <a:r>
              <a:rPr lang="it-IT" sz="1600"/>
              <a:t>(2)</a:t>
            </a:r>
            <a:r>
              <a:rPr b="1" lang="it-IT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600">
                <a:latin typeface="Arial"/>
                <a:ea typeface="Arial"/>
                <a:cs typeface="Arial"/>
                <a:sym typeface="Arial"/>
              </a:rPr>
              <a:t>K. Chang and L.-H. Hsieh, </a:t>
            </a:r>
            <a:r>
              <a:rPr i="1" lang="it-IT" sz="1600">
                <a:latin typeface="Arial"/>
                <a:ea typeface="Arial"/>
                <a:cs typeface="Arial"/>
                <a:sym typeface="Arial"/>
              </a:rPr>
              <a:t>Microwave Ring Circuits and Related Structures</a:t>
            </a:r>
            <a:r>
              <a:rPr lang="it-IT" sz="1600">
                <a:latin typeface="Arial"/>
                <a:ea typeface="Arial"/>
                <a:cs typeface="Arial"/>
                <a:sym typeface="Arial"/>
              </a:rPr>
              <a:t>, 2nd ed. Hoboken, NJ, USA: John Wiley &amp; Sons, 2004.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27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27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27"/>
              <a:buNone/>
            </a:pPr>
            <a:r>
              <a:t/>
            </a:r>
            <a:endParaRPr sz="1600">
              <a:solidFill>
                <a:srgbClr val="1B1B1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27"/>
              <a:buNone/>
            </a:pPr>
            <a:r>
              <a:t/>
            </a:r>
            <a:endParaRPr sz="1800">
              <a:solidFill>
                <a:srgbClr val="1B1B1B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ea775fbc22_0_50"/>
          <p:cNvSpPr txBox="1"/>
          <p:nvPr>
            <p:ph type="title"/>
          </p:nvPr>
        </p:nvSpPr>
        <p:spPr>
          <a:xfrm>
            <a:off x="838200" y="365126"/>
            <a:ext cx="105156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t-IT"/>
              <a:t>Citations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2026-06-08T12:37:37Z</dcterms:created>
  <dc:creator>Alex  Peirano</dc:creator>
</cp:coreProperties>
</file>